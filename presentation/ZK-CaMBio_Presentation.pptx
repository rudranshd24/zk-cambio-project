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INTRODUCTORY REMARKS:</a:t>
            </a:r>
          </a:p>
          <a:p/>
          <a:p>
            <a:r>
              <a:t>Good morning/afternoon everyone. Today, I am presenting ZK-CaMBio, an advanced privacy-preserving multimodal biometric authentication system.</a:t>
            </a:r>
          </a:p>
          <a:p/>
          <a:p>
            <a:r>
              <a:t>In simple terms, biometrics like our face and fingerprints are widely used for security, but they suffer from a major vulnerability: once your face or fingerprint data is stolen or leaked from a database, you can never change it. You cannot reset your face or change your fingerprints.</a:t>
            </a:r>
          </a:p>
          <a:p/>
          <a:p>
            <a:r>
              <a:t>ZK-CaMBio completely solves this problem. It fuses facial recognition and fingerprint scanning, converts them into scrambled, cancelable 512-bit binary codes using chaotic mathematics, and ensures that the server never stores any raw biometric images or templates. If a template is ever stolen, it can be instantly revoked and replaced with a fresh one without losing high accuracy.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p>
            <a:r>
              <a:t>Let's understand the core problem this project solves.</a:t>
            </a:r>
          </a:p>
          <a:p/>
          <a:p>
            <a:r>
              <a:t>When we use passwords or PIN numbers, if someone hacks the server and steals the password, it's bad, but it's easily fixable: the user simply changes their password.</a:t>
            </a:r>
          </a:p>
          <a:p/>
          <a:p>
            <a:r>
              <a:t>However, with biometrics, your face, fingerprint, or iris is permanently tied to your body. If a hospital, an employer, or a government database gets hacked, your biometric features are leaked forever. You cannot go to a clinic and get a new set of fingerprints or a new face.</a:t>
            </a:r>
          </a:p>
          <a:p/>
          <a:p>
            <a:r>
              <a:t>Furthermore, unimodal systems—using only face or only fingerprint—often struggle. A fingerprint sensor gets dirty, or lighting changes for face recognition, causing false rejections.</a:t>
            </a:r>
          </a:p>
          <a:p/>
          <a:p>
            <a:r>
              <a:t>Therefore, modern biometrics desperately needs two things: multimodal fusion for high accuracy, and cancelable templates so that credentials can be revoked and re-issued just like passwords.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p>
            <a:r>
              <a:t>Here is the solution we built: ZK-CaMBio.</a:t>
            </a:r>
          </a:p>
          <a:p/>
          <a:p>
            <a:r>
              <a:t>It is built on three major pillars:</a:t>
            </a:r>
          </a:p>
          <a:p>
            <a:r>
              <a:t>First: Multimodal Fusion. We don't rely on just a face or just a finger. We extract deep features from both and combine them into a single 768-dimensional vector. This solves false rejections and gives extreme accuracy.</a:t>
            </a:r>
          </a:p>
          <a:p/>
          <a:p>
            <a:r>
              <a:t>Second: Cancelable Chaotic Projection. We use a deterministic mathematical chaotic map parameterized by a user's secret key. It projects the combined biometric features into a 512-bit binary code (which is only 64 bytes). If a template is ever compromised, we simply rotate the key and re-enroll. The old template is immediately useless, and the new template is completely unlinkable.</a:t>
            </a:r>
          </a:p>
          <a:p/>
          <a:p>
            <a:r>
              <a:t>Third: Zero-Knowledge Data-at-Rest. We formally define zero-knowledge in this project as a structural storage guarantee: the authentication server never saves raw pictures, never saves unquantized floating-point vectors, and under user-secret mode, never stores passphrases. Even if an attacker steals the entire database, all they get are scrambled 64-byte bitstrings.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p>
            <a:r>
              <a:t>Now let's examine what technologies and models we used in this project:</a:t>
            </a:r>
          </a:p>
          <a:p/>
          <a:p>
            <a:r>
              <a:t>1. For facial feature extraction: We used InceptionResnetV1 (FaceNet) pretrained on the VGGFace2 dataset, which converts a 160x160 face crop into a 512-dimensional continuous feature vector.</a:t>
            </a:r>
          </a:p>
          <a:p/>
          <a:p>
            <a:r>
              <a:t>2. For fingerprints: Off-the-shelf Gabor filters fail on noisy images, so we built FingerResNet18 V2, fine-tuned with CosFace margin loss to extract clean 256-dimensional fingerprint embeddings.</a:t>
            </a:r>
          </a:p>
          <a:p/>
          <a:p>
            <a:r>
              <a:t>3. For fusion: We use weighted concatenation with square root weights (0.60 for face, 0.40 for finger). This produces a 768-dimensional combined vector that mathematically maintains unit length.</a:t>
            </a:r>
          </a:p>
          <a:p/>
          <a:p>
            <a:r>
              <a:t>4. For the chaotic engine: We wrote a custom C++17 engine bound to Python using pybind11. We used 64-bit integer fixed-point math and disabled compiler fused-multiply-add (-ffp-contract=off). This guarantees that the exact same bitstring is calculated whether running on Windows MSVC or a Linux Docker container.</a:t>
            </a:r>
          </a:p>
          <a:p/>
          <a:p>
            <a:r>
              <a:t>5. For cryptography: We use scrypt for memory-hard passphrase stretching and HMAC-SHA256 with per-user salts.</a:t>
            </a:r>
          </a:p>
          <a:p/>
          <a:p>
            <a:r>
              <a:t>6. For deployment: A FastAPI REST backend, PostgreSQL database, Docker containerization, and an interactive Streamlit UI.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p>
            <a:r>
              <a:t>Here are the exact details of the dataset and how the database was built:</a:t>
            </a:r>
          </a:p>
          <a:p/>
          <a:p>
            <a:r>
              <a:t>1. For the face modality, we used UMDFaces, which contains 367,888 images across 8,277 identity folders. We filtered for subjects with at least 20 images to avoid label noise, leaving 7,173 eligible identities. We then sorted and sampled 300 identities using fixed seed 42.</a:t>
            </a:r>
          </a:p>
          <a:p/>
          <a:p>
            <a:r>
              <a:t>2. For fingerprints, we used the international benchmark FVC2004 across 3 real sensors: DB1 (optical), DB2 (optical), and DB3 (thermal sweep). Each sensor has 100 fingers with 8 impressions each, giving 2,400 raw images.</a:t>
            </a:r>
          </a:p>
          <a:p/>
          <a:p>
            <a:r>
              <a:t>3. Chimeric Pairing: In biometric literature, because privacy laws prevent freely releasing public paired datasets with both faces and fingerprints from the same real people, we followed the standard accepted research protocol: pairing face subject k with fingerprint k to create 300 Virtual Subjects.</a:t>
            </a:r>
          </a:p>
          <a:p/>
          <a:p>
            <a:r>
              <a:t>4. Per subject, we use 5 images for enrollment and 3 separate images for probe queries. That's 8 images per subject, or 2,400 face images and 2,400 fingerprint impressions evaluated in total.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p>
            <a:r>
              <a:t>How did we partition the data and identify people without data leakage?</a:t>
            </a:r>
          </a:p>
          <a:p/>
          <a:p>
            <a:r>
              <a:t>1. We strictly separated our 300 virtual subjects into three subject-disjoint groups:</a:t>
            </a:r>
          </a:p>
          <a:p>
            <a:r>
              <a:t>   - 180 subjects (60%) for training the fingerprint model and attack decoders.</a:t>
            </a:r>
          </a:p>
          <a:p>
            <a:r>
              <a:t>   - 30 subjects (10%) for validation (tuning fusion weights and selecting projection size m).</a:t>
            </a:r>
          </a:p>
          <a:p>
            <a:r>
              <a:t>   - 120 subjects (40%) for our final test evaluation. No test data was ever used in training!</a:t>
            </a:r>
          </a:p>
          <a:p/>
          <a:p>
            <a:r>
              <a:t>2. Crucially, we implemented Protocol D-009 for identification:</a:t>
            </a:r>
          </a:p>
          <a:p>
            <a:r>
              <a:t>   In fingerprint testing, comparing a thermal scanner to an optical scanner is too easy because the sensor styles look different.    To avoid cheating ourselves with artificially inflated accuracy, we restricted all impostor comparisons strictly to the SAME sensor database.    That gave us 14,040 impostor comparisons and 360 genuine test trials across our 120 test subjects.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a:t>
            </a:r>
          </a:p>
          <a:p/>
          <a:p>
            <a:r>
              <a:t>Here are the baseline accuracy results before applying any cancelable protection:</a:t>
            </a:r>
          </a:p>
          <a:p/>
          <a:p>
            <a:r>
              <a:t>1. Face recognition alone achieves an Equal Error Rate (EER) of 2.00%, with a Rank-1 identification accuracy of 97.22%.</a:t>
            </a:r>
          </a:p>
          <a:p>
            <a:r>
              <a:t>2. Fingerprint recognition alone achieves an EER of 5.81%, with Rank-1 accuracy of 78.89%.</a:t>
            </a:r>
          </a:p>
          <a:p>
            <a:r>
              <a:t>3. When we fuse them together at the feature level (weighting 0.60 for face, 0.40 for finger), our error rate drops to just 1.11%, and our Rank-1 identification surges to 99.44%!</a:t>
            </a:r>
          </a:p>
          <a:p/>
          <a:p>
            <a:r>
              <a:t>This proves that multimodal fusion significantly outperforms any single biometric modality. Now, the big question is: when we convert this fused vector into a scrambled cancelable binary code, do we lose this accuracy?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SPEAKER NOTES:</a:t>
            </a:r>
          </a:p>
          <a:p/>
          <a:p>
            <a:r>
              <a:t>This slide presents one of the most important findings of our research: Performance Preservation.</a:t>
            </a:r>
          </a:p>
          <a:p/>
          <a:p>
            <a:r>
              <a:t>Historically, many cancelable biometric schemes ruined accuracy when scrambling the template. In our system, under Scenario K (which evaluates the biometric accuracy using the same key):</a:t>
            </a:r>
          </a:p>
          <a:p/>
          <a:p>
            <a:r>
              <a:t>- The cancelable template achieves an EER of 1.29% ± 0.23%.</a:t>
            </a:r>
          </a:p>
          <a:p>
            <a:r>
              <a:t>- The unprotected baseline had an EER of 1.11%.</a:t>
            </a:r>
          </a:p>
          <a:p>
            <a:r>
              <a:t>- The difference is only +0.21%.</a:t>
            </a:r>
          </a:p>
          <a:p/>
          <a:p>
            <a:r>
              <a:t>We ran a rigorous 1,000-iteration paired bootstrap test. The 95% confidence interval spans from -0.135% to +0.688%. Because zero is inside this interval, the null hypothesis is retained: the difference is NOT statistically significant!</a:t>
            </a:r>
          </a:p>
          <a:p/>
          <a:p>
            <a:r>
              <a:t>In simple words: We get full privacy and revocability at zero practical cost to biometric recognition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SPEAKER NOTES:</a:t>
            </a:r>
          </a:p>
          <a:p/>
          <a:p>
            <a:r>
              <a:t>In real-world applications, systems don't just verify 1-to-1 ('Are you Alice?'); they also identify 1-to-N ('Who are you in this database?').</a:t>
            </a:r>
          </a:p>
          <a:p/>
          <a:p>
            <a:r>
              <a:t>Here are our 1:N identification results:</a:t>
            </a:r>
          </a:p>
          <a:p>
            <a:r>
              <a:t>- Across our 40-subject gallery per sensor, DB1 achieves 98.42% Rank-1 accuracy.</a:t>
            </a:r>
          </a:p>
          <a:p>
            <a:r>
              <a:t>- DB2 achieves 98.00% Rank-1 accuracy.</a:t>
            </a:r>
          </a:p>
          <a:p>
            <a:r>
              <a:t>- DB3 (the thermal sweep sensor) achieves a perfect 100.00% Rank-1 accuracy.</a:t>
            </a:r>
          </a:p>
          <a:p>
            <a:r>
              <a:t>- Our overall pooled Rank-1 accuracy is 98.81% ± 0.31%, and by Rank-3, accuracy is exactly 100.00%.</a:t>
            </a:r>
          </a:p>
          <a:p/>
          <a:p>
            <a:r>
              <a:t>Because templates are compact 512-bit arrays, searching through a database requires only fast CPU bitwise XOR instructions. It takes less than 1 millisecond per query.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SPEAKER NOTES:</a:t>
            </a:r>
          </a:p>
          <a:p/>
          <a:p>
            <a:r>
              <a:t>Under the international biometric standard ISO/IEC 30136, a biometric template protection system must prove Revocability and Unlinkability.</a:t>
            </a:r>
          </a:p>
          <a:p/>
          <a:p>
            <a:r>
              <a:t>1. For Revocability: When a key is compromised, the user revokes it. We tested old probes against the new template: rejection was 100.00%! Zero false acceptances. And when the user presents their traits with the fresh key, their genuine access is restored with an FNMR of 1.67%.</a:t>
            </a:r>
          </a:p>
          <a:p/>
          <a:p>
            <a:r>
              <a:t>2. For Unlinkability: If you enroll at Bank A and Office B using the same face and fingerprint, can someone link your accounts? We calculated the Gomez-Barrero benchmark metric D_sys. Our score is 0.0245, far below the standard threshold of 0.10. The Hamming distance between the same person across two keys is 0.5006—completely identical to two total strangers! Therefore, cross-service tracking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SPEAKER NOTES:</a:t>
            </a:r>
          </a:p>
          <a:p/>
          <a:p>
            <a:r>
              <a:t>Now for the scientific security analysis: Can an attacker reverse-engineer the original biometric from the stored template?</a:t>
            </a:r>
          </a:p>
          <a:p/>
          <a:p>
            <a:r>
              <a:t>We analyzed this under two threat models:</a:t>
            </a:r>
          </a:p>
          <a:p/>
          <a:p>
            <a:r>
              <a:t>1. Case A1: The attacker steals the database, but does NOT have the projection keys. Here, the system is completely safe. The keyspace is 2^126, which would take over 10^22 GPU-years to brute-force. A machine learning distinguisher trying to guess user identity achieves an AUC of 0.4767, which is a pure coin flip.</a:t>
            </a:r>
          </a:p>
          <a:p/>
          <a:p>
            <a:r>
              <a:t>2. Case A2: The attacker acquires BOTH the template AND the secret key. Here, our research uncovered an important truth: many past papers claim random projections are one-way trapdoors, but our Ridge regression decoder was able to reconstruct continuous features with 0.9335 cosine similarity, achieving a 100% replay match against unprotected systems!</a:t>
            </a:r>
          </a:p>
          <a:p/>
          <a:p>
            <a:r>
              <a:t>This proves that cancelable biometrics is NOT an irreversible one-way cryptographic hash. Its security relies strictly on keeping the transformation keys confidential.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SPEAKER NOTES:</a:t>
            </a:r>
          </a:p>
          <a:p/>
          <a:p>
            <a:r>
              <a:t>Because our research showed that security depends on key secrecy, we built extensive production-grade software hardening into the code:</a:t>
            </a:r>
          </a:p>
          <a:p/>
          <a:p>
            <a:r>
              <a:t>1. Zero raw biometrics stored: The database stores only 64-byte bitstrings. No photos or floating-point vectors ever hit the disk.</a:t>
            </a:r>
          </a:p>
          <a:p>
            <a:r>
              <a:t>2. Score suppression: When authenticating, the API only returns 'MATCH' or 'NO MATCH'. It does not give a decimal score like 0.84, because hackers can use floating-point scores to climb the hill and reconstruct the user's face.</a:t>
            </a:r>
          </a:p>
          <a:p>
            <a:r>
              <a:t>3. Escalating delay lockout: Exponential delays stop brute-force password guessing.</a:t>
            </a:r>
          </a:p>
          <a:p>
            <a:r>
              <a:t>4. Architectural UI isolation: The Streamlit user interface is completely decoupled from the AI models. It only talks to the server over REST APIs.</a:t>
            </a:r>
          </a:p>
          <a:p>
            <a:r>
              <a:t>5. Constant-time token checks and cross-platform bit determinism between Windows and Linux Docker.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SPEAKER NOTES (CONCLUSION &amp; DEFENSE SCRIPT):</a:t>
            </a:r>
          </a:p>
          <a:p/>
          <a:p>
            <a:r>
              <a:t>To summarize our project in four simple points:</a:t>
            </a:r>
          </a:p>
          <a:p/>
          <a:p>
            <a:r>
              <a:t>1. We solved the biometric permanence problem: users no longer have to worry about permanent identity theft from database breaches.</a:t>
            </a:r>
          </a:p>
          <a:p>
            <a:r>
              <a:t>2. We achieved high accuracy: multimodal fusion cuts error rates to 1.11%, and our cancelable template achieves 1.29% EER and 98.81% Rank-1 identification accuracy. The accuracy penalty is statistically zero.</a:t>
            </a:r>
          </a:p>
          <a:p>
            <a:r>
              <a:t>3. We met ISO/IEC 30136 standards: 100% revocation rejection and complete cross-service unlinkability (D_sys = 0.0245).</a:t>
            </a:r>
          </a:p>
          <a:p>
            <a:r>
              <a:t>4. We established honest scientific ground: proving that cancelable templates are not magic one-way hashes, but secure key-dependent protections that require strong software engineering and key management.</a:t>
            </a:r>
          </a:p>
          <a:p/>
          <a:p>
            <a:r>
              <a:t>Thank you! I am now ready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13716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3840480"/>
          </a:xfrm>
          <a:prstGeom prst="rect">
            <a:avLst/>
          </a:prstGeom>
          <a:noFill/>
        </p:spPr>
        <p:txBody>
          <a:bodyPr wrap="square">
            <a:spAutoFit/>
          </a:bodyPr>
          <a:lstStyle/>
          <a:p>
            <a:pPr>
              <a:defRPr sz="1200" b="1">
                <a:solidFill>
                  <a:srgbClr val="0EA5E9"/>
                </a:solidFill>
              </a:defRPr>
            </a:pPr>
            <a:r>
              <a:t>RESEARCH &amp; ENGINEERING PRESENTATION</a:t>
            </a:r>
          </a:p>
          <a:p>
            <a:pPr>
              <a:spcAft>
                <a:spcPts val="1000"/>
              </a:spcAft>
              <a:defRPr sz="4000" b="1">
                <a:solidFill>
                  <a:srgbClr val="FFFFFF"/>
                </a:solidFill>
              </a:defRPr>
            </a:pPr>
            <a:r>
              <a:t>ZK-CaMBio</a:t>
            </a:r>
          </a:p>
          <a:p>
            <a:pPr>
              <a:spcAft>
                <a:spcPts val="1800"/>
              </a:spcAft>
              <a:defRPr sz="2200" b="1">
                <a:solidFill>
                  <a:srgbClr val="E2E8F0"/>
                </a:solidFill>
              </a:defRPr>
            </a:pPr>
            <a:r>
              <a:t>Privacy-Preserving Multimodal Biometric Authentication</a:t>
            </a:r>
            <a:br/>
            <a:r>
              <a:t>Using Cancelable Chaotic Templates</a:t>
            </a:r>
          </a:p>
          <a:p>
            <a:pPr>
              <a:defRPr sz="1300">
                <a:solidFill>
                  <a:srgbClr val="94A3B8"/>
                </a:solidFill>
              </a:defRPr>
            </a:pPr>
            <a:r>
              <a:t>Solving Biometric Identity Theft • Face &amp; Fingerprint Feature Fusion • 1.29% EER Accuracy • Provable ISO/IEC 30136 Revocability</a:t>
            </a:r>
          </a:p>
        </p:txBody>
      </p:sp>
      <p:sp>
        <p:nvSpPr>
          <p:cNvPr id="5" name="Rounded Rectangle 4"/>
          <p:cNvSpPr/>
          <p:nvPr/>
        </p:nvSpPr>
        <p:spPr>
          <a:xfrm>
            <a:off x="914400" y="5120640"/>
            <a:ext cx="3291840" cy="11887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212080"/>
            <a:ext cx="2926080" cy="1005840"/>
          </a:xfrm>
          <a:prstGeom prst="rect">
            <a:avLst/>
          </a:prstGeom>
          <a:noFill/>
        </p:spPr>
        <p:txBody>
          <a:bodyPr wrap="square">
            <a:spAutoFit/>
          </a:bodyPr>
          <a:lstStyle/>
          <a:p>
            <a:pPr>
              <a:defRPr sz="1100" b="1">
                <a:solidFill>
                  <a:srgbClr val="2563EB"/>
                </a:solidFill>
              </a:defRPr>
            </a:pPr>
            <a:r>
              <a:t>MULTIMODAL FUSION</a:t>
            </a:r>
          </a:p>
          <a:p>
            <a:pPr>
              <a:defRPr sz="1200">
                <a:solidFill>
                  <a:srgbClr val="FFFFFF"/>
                </a:solidFill>
              </a:defRPr>
            </a:pPr>
            <a:r>
              <a:t>FaceNet (512-d) + FingerResNet (256-d)</a:t>
            </a:r>
          </a:p>
        </p:txBody>
      </p:sp>
      <p:sp>
        <p:nvSpPr>
          <p:cNvPr id="7" name="Rounded Rectangle 6"/>
          <p:cNvSpPr/>
          <p:nvPr/>
        </p:nvSpPr>
        <p:spPr>
          <a:xfrm>
            <a:off x="4434840" y="5120640"/>
            <a:ext cx="3291840" cy="1188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5212080"/>
            <a:ext cx="2926080" cy="1005840"/>
          </a:xfrm>
          <a:prstGeom prst="rect">
            <a:avLst/>
          </a:prstGeom>
          <a:noFill/>
        </p:spPr>
        <p:txBody>
          <a:bodyPr wrap="square">
            <a:spAutoFit/>
          </a:bodyPr>
          <a:lstStyle/>
          <a:p>
            <a:pPr>
              <a:defRPr sz="1100" b="1">
                <a:solidFill>
                  <a:srgbClr val="10B981"/>
                </a:solidFill>
              </a:defRPr>
            </a:pPr>
            <a:r>
              <a:t>HIGH ACCURACY</a:t>
            </a:r>
          </a:p>
          <a:p>
            <a:pPr>
              <a:defRPr sz="1200">
                <a:solidFill>
                  <a:srgbClr val="FFFFFF"/>
                </a:solidFill>
              </a:defRPr>
            </a:pPr>
            <a:r>
              <a:t>1.29% Equal Error Rate (98.81% Rank-1)</a:t>
            </a:r>
          </a:p>
        </p:txBody>
      </p:sp>
      <p:sp>
        <p:nvSpPr>
          <p:cNvPr id="9" name="Rounded Rectangle 8"/>
          <p:cNvSpPr/>
          <p:nvPr/>
        </p:nvSpPr>
        <p:spPr>
          <a:xfrm>
            <a:off x="7955279" y="5120640"/>
            <a:ext cx="3291840" cy="11887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5212080"/>
            <a:ext cx="2926080" cy="1005840"/>
          </a:xfrm>
          <a:prstGeom prst="rect">
            <a:avLst/>
          </a:prstGeom>
          <a:noFill/>
        </p:spPr>
        <p:txBody>
          <a:bodyPr wrap="square">
            <a:spAutoFit/>
          </a:bodyPr>
          <a:lstStyle/>
          <a:p>
            <a:pPr>
              <a:defRPr sz="1100" b="1">
                <a:solidFill>
                  <a:srgbClr val="0EA5E9"/>
                </a:solidFill>
              </a:defRPr>
            </a:pPr>
            <a:r>
              <a:t>ZERO-KNOWLEDGE PRIVACY</a:t>
            </a:r>
          </a:p>
          <a:p>
            <a:pPr>
              <a:defRPr sz="1200">
                <a:solidFill>
                  <a:srgbClr val="FFFFFF"/>
                </a:solidFill>
              </a:defRPr>
            </a:pPr>
            <a:r>
              <a:t>Zero Raw Biometrics Stored in 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PROBLEM STATEMENT</a:t>
            </a:r>
          </a:p>
          <a:p>
            <a:pPr>
              <a:defRPr sz="2000" b="1">
                <a:solidFill>
                  <a:srgbClr val="FFFFFF"/>
                </a:solidFill>
              </a:defRPr>
            </a:pPr>
            <a:r>
              <a:t>The Core Problem: Why Traditional Biometrics Are High-Risk</a:t>
            </a:r>
          </a:p>
        </p:txBody>
      </p:sp>
      <p:sp>
        <p:nvSpPr>
          <p:cNvPr id="5" name="Rounded Rectangle 4"/>
          <p:cNvSpPr/>
          <p:nvPr/>
        </p:nvSpPr>
        <p:spPr>
          <a:xfrm>
            <a:off x="731520" y="1280160"/>
            <a:ext cx="512064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754880" cy="4846320"/>
          </a:xfrm>
          <a:prstGeom prst="rect">
            <a:avLst/>
          </a:prstGeom>
          <a:noFill/>
        </p:spPr>
        <p:txBody>
          <a:bodyPr wrap="square">
            <a:spAutoFit/>
          </a:bodyPr>
          <a:lstStyle/>
          <a:p>
            <a:pPr>
              <a:spcAft>
                <a:spcPts val="800"/>
              </a:spcAft>
              <a:defRPr sz="1700" b="1">
                <a:solidFill>
                  <a:srgbClr val="E11D48"/>
                </a:solidFill>
              </a:defRPr>
            </a:pPr>
            <a:r>
              <a:t>The Permanence Vulnerability</a:t>
            </a:r>
          </a:p>
          <a:p>
            <a:pPr>
              <a:defRPr b="1" sz="1300">
                <a:solidFill>
                  <a:srgbClr val="0F172A"/>
                </a:solidFill>
              </a:defRPr>
            </a:pPr>
            <a:r>
              <a:t>• Biometrics Cannot Be Reset: </a:t>
            </a:r>
          </a:p>
          <a:p>
            <a:pPr>
              <a:spcAft>
                <a:spcPts val="1000"/>
              </a:spcAft>
              <a:defRPr sz="1200">
                <a:solidFill>
                  <a:srgbClr val="64748B"/>
                </a:solidFill>
              </a:defRPr>
            </a:pPr>
            <a:r>
              <a:t>If your password is stolen, you change it in 10 seconds. But if your face or fingerprint template is leaked, you are permanently compromised for life.</a:t>
            </a:r>
          </a:p>
          <a:p>
            <a:pPr>
              <a:defRPr b="1" sz="1300">
                <a:solidFill>
                  <a:srgbClr val="0F172A"/>
                </a:solidFill>
              </a:defRPr>
            </a:pPr>
            <a:r>
              <a:t>• Cross-Service Tracking: </a:t>
            </a:r>
          </a:p>
          <a:p>
            <a:pPr>
              <a:spcAft>
                <a:spcPts val="1000"/>
              </a:spcAft>
              <a:defRPr sz="1200">
                <a:solidFill>
                  <a:srgbClr val="64748B"/>
                </a:solidFill>
              </a:defRPr>
            </a:pPr>
            <a:r>
              <a:t>If you use your face to unlock your phone, your bank, and your office, a leaked database allows malicious actors to link and track your identity across all services.</a:t>
            </a:r>
          </a:p>
          <a:p>
            <a:pPr>
              <a:defRPr b="1" sz="1300">
                <a:solidFill>
                  <a:srgbClr val="0F172A"/>
                </a:solidFill>
              </a:defRPr>
            </a:pPr>
            <a:r>
              <a:t>• Single-Modality Weaknesses: </a:t>
            </a:r>
          </a:p>
          <a:p>
            <a:pPr>
              <a:spcAft>
                <a:spcPts val="1000"/>
              </a:spcAft>
              <a:defRPr sz="1200">
                <a:solidFill>
                  <a:srgbClr val="64748B"/>
                </a:solidFill>
              </a:defRPr>
            </a:pPr>
            <a:r>
              <a:t>A single biometric trait often fails: fingerprints get smudged or dry, and face recognition struggles under low light, leading to high false rejections.</a:t>
            </a:r>
          </a:p>
        </p:txBody>
      </p:sp>
      <p:sp>
        <p:nvSpPr>
          <p:cNvPr id="7" name="Rounded Rectangle 6"/>
          <p:cNvSpPr/>
          <p:nvPr/>
        </p:nvSpPr>
        <p:spPr>
          <a:xfrm>
            <a:off x="6217920" y="1280160"/>
            <a:ext cx="521208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4846320" cy="4846320"/>
          </a:xfrm>
          <a:prstGeom prst="rect">
            <a:avLst/>
          </a:prstGeom>
          <a:noFill/>
        </p:spPr>
        <p:txBody>
          <a:bodyPr wrap="square">
            <a:spAutoFit/>
          </a:bodyPr>
          <a:lstStyle/>
          <a:p>
            <a:pPr>
              <a:spcAft>
                <a:spcPts val="1200"/>
              </a:spcAft>
              <a:defRPr sz="1700" b="1">
                <a:solidFill>
                  <a:srgbClr val="2563EB"/>
                </a:solidFill>
              </a:defRPr>
            </a:pPr>
            <a:r>
              <a:t>Passwords vs. Traditional Biometrics</a:t>
            </a:r>
          </a:p>
          <a:p>
            <a:pPr>
              <a:defRPr b="1" sz="1200">
                <a:solidFill>
                  <a:srgbClr val="1E293B"/>
                </a:solidFill>
              </a:defRPr>
            </a:pPr>
            <a:r>
              <a:t>Credential Type:</a:t>
            </a:r>
          </a:p>
          <a:p>
            <a:pPr>
              <a:spcAft>
                <a:spcPts val="800"/>
              </a:spcAft>
              <a:defRPr sz="1100">
                <a:solidFill>
                  <a:srgbClr val="64748B"/>
                </a:solidFill>
              </a:defRPr>
            </a:pPr>
            <a:r>
              <a:t>  • Password: Random digital strings</a:t>
            </a:r>
            <a:br/>
            <a:r>
              <a:t>  • Biometric: Your physical body traits</a:t>
            </a:r>
          </a:p>
          <a:p>
            <a:pPr>
              <a:defRPr b="1" sz="1200">
                <a:solidFill>
                  <a:srgbClr val="1E293B"/>
                </a:solidFill>
              </a:defRPr>
            </a:pPr>
            <a:r>
              <a:t>Revocability:</a:t>
            </a:r>
          </a:p>
          <a:p>
            <a:pPr>
              <a:spcAft>
                <a:spcPts val="800"/>
              </a:spcAft>
              <a:defRPr sz="1100">
                <a:solidFill>
                  <a:srgbClr val="64748B"/>
                </a:solidFill>
              </a:defRPr>
            </a:pPr>
            <a:r>
              <a:t>  • Password: Instant re-issuance</a:t>
            </a:r>
            <a:br/>
            <a:r>
              <a:t>  • Biometric: Biologically impossible</a:t>
            </a:r>
          </a:p>
          <a:p>
            <a:pPr>
              <a:defRPr b="1" sz="1200">
                <a:solidFill>
                  <a:srgbClr val="1E293B"/>
                </a:solidFill>
              </a:defRPr>
            </a:pPr>
            <a:r>
              <a:t>Cross-Service Salt:</a:t>
            </a:r>
          </a:p>
          <a:p>
            <a:pPr>
              <a:spcAft>
                <a:spcPts val="800"/>
              </a:spcAft>
              <a:defRPr sz="1100">
                <a:solidFill>
                  <a:srgbClr val="64748B"/>
                </a:solidFill>
              </a:defRPr>
            </a:pPr>
            <a:r>
              <a:t>  • Password: Unique hash per service</a:t>
            </a:r>
            <a:br/>
            <a:r>
              <a:t>  • Biometric: Same face &amp; finger everywhere</a:t>
            </a:r>
          </a:p>
          <a:p>
            <a:pPr>
              <a:defRPr b="1" sz="1200">
                <a:solidFill>
                  <a:srgbClr val="1E293B"/>
                </a:solidFill>
              </a:defRPr>
            </a:pPr>
            <a:r>
              <a:t>Data Breach Risk:</a:t>
            </a:r>
          </a:p>
          <a:p>
            <a:pPr>
              <a:spcAft>
                <a:spcPts val="800"/>
              </a:spcAft>
              <a:defRPr sz="1100">
                <a:solidFill>
                  <a:srgbClr val="64748B"/>
                </a:solidFill>
              </a:defRPr>
            </a:pPr>
            <a:r>
              <a:t>  • Password: Change password, risk ends</a:t>
            </a:r>
            <a:br/>
            <a:r>
              <a:t>  • Biometric: Permanent identity compromise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PROPOSED SOLUTION</a:t>
            </a:r>
          </a:p>
          <a:p>
            <a:pPr>
              <a:defRPr sz="2000" b="1">
                <a:solidFill>
                  <a:srgbClr val="FFFFFF"/>
                </a:solidFill>
              </a:defRPr>
            </a:pPr>
            <a:r>
              <a:t>What Problems Does ZK-CaMBio Solve &amp; How?</a:t>
            </a:r>
          </a:p>
        </p:txBody>
      </p:sp>
      <p:sp>
        <p:nvSpPr>
          <p:cNvPr id="5" name="Rounded Rectangle 4"/>
          <p:cNvSpPr/>
          <p:nvPr/>
        </p:nvSpPr>
        <p:spPr>
          <a:xfrm>
            <a:off x="731520" y="1280160"/>
            <a:ext cx="3383280" cy="51206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3017520" cy="4754880"/>
          </a:xfrm>
          <a:prstGeom prst="rect">
            <a:avLst/>
          </a:prstGeom>
          <a:noFill/>
        </p:spPr>
        <p:txBody>
          <a:bodyPr wrap="square">
            <a:spAutoFit/>
          </a:bodyPr>
          <a:lstStyle/>
          <a:p>
            <a:pPr>
              <a:spcAft>
                <a:spcPts val="400"/>
              </a:spcAft>
              <a:defRPr sz="1600" b="1">
                <a:solidFill>
                  <a:srgbClr val="2563EB"/>
                </a:solidFill>
              </a:defRPr>
            </a:pPr>
            <a:r>
              <a:t>1. Multimodal Fusion</a:t>
            </a:r>
          </a:p>
          <a:p>
            <a:pPr>
              <a:spcAft>
                <a:spcPts val="1400"/>
              </a:spcAft>
              <a:defRPr sz="1000" b="1">
                <a:solidFill>
                  <a:srgbClr val="64748B"/>
                </a:solidFill>
              </a:defRPr>
            </a:pPr>
            <a:r>
              <a:t>SOLVES SINGLE-SENSOR FAILURES</a:t>
            </a:r>
          </a:p>
          <a:p>
            <a:pPr>
              <a:defRPr sz="1200">
                <a:solidFill>
                  <a:srgbClr val="0F172A"/>
                </a:solidFill>
              </a:defRPr>
            </a:pPr>
            <a:r>
              <a:t>Combines deep facial features and convolutional fingerprint features at the feature level.</a:t>
            </a:r>
            <a:br/>
            <a:br/>
            <a:r>
              <a:t>• Face weight = 0.60, Fingerprint = 0.40.</a:t>
            </a:r>
            <a:br/>
            <a:r>
              <a:t>• Creates a unified 768-dimensional unit-norm vector that makes authentication far more accurate than any single trait.</a:t>
            </a:r>
          </a:p>
        </p:txBody>
      </p:sp>
      <p:sp>
        <p:nvSpPr>
          <p:cNvPr id="7" name="Rounded Rectangle 6"/>
          <p:cNvSpPr/>
          <p:nvPr/>
        </p:nvSpPr>
        <p:spPr>
          <a:xfrm>
            <a:off x="4389120" y="1280160"/>
            <a:ext cx="3383280" cy="512064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463040"/>
            <a:ext cx="3017520" cy="4754880"/>
          </a:xfrm>
          <a:prstGeom prst="rect">
            <a:avLst/>
          </a:prstGeom>
          <a:noFill/>
        </p:spPr>
        <p:txBody>
          <a:bodyPr wrap="square">
            <a:spAutoFit/>
          </a:bodyPr>
          <a:lstStyle/>
          <a:p>
            <a:pPr>
              <a:spcAft>
                <a:spcPts val="400"/>
              </a:spcAft>
              <a:defRPr sz="1600" b="1">
                <a:solidFill>
                  <a:srgbClr val="0EA5E9"/>
                </a:solidFill>
              </a:defRPr>
            </a:pPr>
            <a:r>
              <a:t>2. Cancelable Chaotic Projection</a:t>
            </a:r>
          </a:p>
          <a:p>
            <a:pPr>
              <a:spcAft>
                <a:spcPts val="1400"/>
              </a:spcAft>
              <a:defRPr sz="1000" b="1">
                <a:solidFill>
                  <a:srgbClr val="64748B"/>
                </a:solidFill>
              </a:defRPr>
            </a:pPr>
            <a:r>
              <a:t>SOLVES PERMANENT LEAKS</a:t>
            </a:r>
          </a:p>
          <a:p>
            <a:pPr>
              <a:defRPr sz="1200">
                <a:solidFill>
                  <a:srgbClr val="0F172A"/>
                </a:solidFill>
              </a:defRPr>
            </a:pPr>
            <a:r>
              <a:t>Transforms continuous biometrics into a 512-bit binary template using a key-dependent chaotic logistic map.</a:t>
            </a:r>
            <a:br/>
            <a:br/>
            <a:r>
              <a:t>• If stolen, the key is revoked and changed.</a:t>
            </a:r>
            <a:br/>
            <a:r>
              <a:t>• A new, completely different template is generated from the exact same face and fingerprint without re-sampling.</a:t>
            </a:r>
          </a:p>
        </p:txBody>
      </p:sp>
      <p:sp>
        <p:nvSpPr>
          <p:cNvPr id="9" name="Rounded Rectangle 8"/>
          <p:cNvSpPr/>
          <p:nvPr/>
        </p:nvSpPr>
        <p:spPr>
          <a:xfrm>
            <a:off x="8046720" y="1280160"/>
            <a:ext cx="3383280" cy="51206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463040"/>
            <a:ext cx="3017520" cy="4754880"/>
          </a:xfrm>
          <a:prstGeom prst="rect">
            <a:avLst/>
          </a:prstGeom>
          <a:noFill/>
        </p:spPr>
        <p:txBody>
          <a:bodyPr wrap="square">
            <a:spAutoFit/>
          </a:bodyPr>
          <a:lstStyle/>
          <a:p>
            <a:pPr>
              <a:spcAft>
                <a:spcPts val="400"/>
              </a:spcAft>
              <a:defRPr sz="1600" b="1">
                <a:solidFill>
                  <a:srgbClr val="10B981"/>
                </a:solidFill>
              </a:defRPr>
            </a:pPr>
            <a:r>
              <a:t>3. 'Zero-Knowledge' Privacy</a:t>
            </a:r>
          </a:p>
          <a:p>
            <a:pPr>
              <a:spcAft>
                <a:spcPts val="1400"/>
              </a:spcAft>
              <a:defRPr sz="1000" b="1">
                <a:solidFill>
                  <a:srgbClr val="64748B"/>
                </a:solidFill>
              </a:defRPr>
            </a:pPr>
            <a:r>
              <a:t>SOLVES SERVER DATA BREACHES</a:t>
            </a:r>
          </a:p>
          <a:p>
            <a:pPr>
              <a:defRPr sz="1200">
                <a:solidFill>
                  <a:srgbClr val="0F172A"/>
                </a:solidFill>
              </a:defRPr>
            </a:pPr>
            <a:r>
              <a:t>Guarantees data-at-rest structural privacy on the server:</a:t>
            </a:r>
            <a:br/>
            <a:br/>
            <a:r>
              <a:t>• ZERO raw face photos or fingerprint images stored.</a:t>
            </a:r>
            <a:br/>
            <a:r>
              <a:t>• ZERO continuous floating-point embeddings stored.</a:t>
            </a:r>
            <a:br/>
            <a:r>
              <a:t>• The database stores ONLY a 64-byte scrambled binary bitstring.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WHAT DID WE USE?</a:t>
            </a:r>
          </a:p>
          <a:p>
            <a:pPr>
              <a:defRPr sz="2000" b="1">
                <a:solidFill>
                  <a:srgbClr val="FFFFFF"/>
                </a:solidFill>
              </a:defRPr>
            </a:pPr>
            <a:r>
              <a:t>Technology Stack: Models, Cryptography &amp; Systems</a:t>
            </a:r>
          </a:p>
        </p:txBody>
      </p:sp>
      <p:sp>
        <p:nvSpPr>
          <p:cNvPr id="5" name="Rounded Rectangle 4"/>
          <p:cNvSpPr/>
          <p:nvPr/>
        </p:nvSpPr>
        <p:spPr>
          <a:xfrm>
            <a:off x="731520" y="1280160"/>
            <a:ext cx="3474720" cy="24231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200400" cy="2148840"/>
          </a:xfrm>
          <a:prstGeom prst="rect">
            <a:avLst/>
          </a:prstGeom>
          <a:noFill/>
        </p:spPr>
        <p:txBody>
          <a:bodyPr wrap="square">
            <a:spAutoFit/>
          </a:bodyPr>
          <a:lstStyle/>
          <a:p>
            <a:pPr>
              <a:defRPr sz="1000" b="1">
                <a:solidFill>
                  <a:srgbClr val="2563EB"/>
                </a:solidFill>
              </a:defRPr>
            </a:pPr>
            <a:r>
              <a:t>FACE RECOGNITION</a:t>
            </a:r>
          </a:p>
          <a:p>
            <a:pPr>
              <a:spcAft>
                <a:spcPts val="600"/>
              </a:spcAft>
              <a:defRPr sz="1400" b="1">
                <a:solidFill>
                  <a:srgbClr val="0F172A"/>
                </a:solidFill>
              </a:defRPr>
            </a:pPr>
            <a:r>
              <a:t>InceptionResnetV1 (FaceNet)</a:t>
            </a:r>
          </a:p>
          <a:p>
            <a:pPr>
              <a:defRPr sz="1100">
                <a:solidFill>
                  <a:srgbClr val="64748B"/>
                </a:solidFill>
              </a:defRPr>
            </a:pPr>
            <a:r>
              <a:t>• Pretrained on VGGFace2 (3.31M images)</a:t>
            </a:r>
            <a:br/>
            <a:r>
              <a:t>• Input: 160x160 face crops</a:t>
            </a:r>
            <a:br/>
            <a:r>
              <a:t>• Output: 512-dimensional L2-normalized deep embedding vector</a:t>
            </a:r>
          </a:p>
        </p:txBody>
      </p:sp>
      <p:sp>
        <p:nvSpPr>
          <p:cNvPr id="7" name="Rounded Rectangle 6"/>
          <p:cNvSpPr/>
          <p:nvPr/>
        </p:nvSpPr>
        <p:spPr>
          <a:xfrm>
            <a:off x="4389120" y="1280160"/>
            <a:ext cx="3474720" cy="242316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200400" cy="2148840"/>
          </a:xfrm>
          <a:prstGeom prst="rect">
            <a:avLst/>
          </a:prstGeom>
          <a:noFill/>
        </p:spPr>
        <p:txBody>
          <a:bodyPr wrap="square">
            <a:spAutoFit/>
          </a:bodyPr>
          <a:lstStyle/>
          <a:p>
            <a:pPr>
              <a:defRPr sz="1000" b="1">
                <a:solidFill>
                  <a:srgbClr val="0EA5E9"/>
                </a:solidFill>
              </a:defRPr>
            </a:pPr>
            <a:r>
              <a:t>FINGERPRINT RECOGNITION</a:t>
            </a:r>
          </a:p>
          <a:p>
            <a:pPr>
              <a:spcAft>
                <a:spcPts val="600"/>
              </a:spcAft>
              <a:defRPr sz="1400" b="1">
                <a:solidFill>
                  <a:srgbClr val="0F172A"/>
                </a:solidFill>
              </a:defRPr>
            </a:pPr>
            <a:r>
              <a:t>Custom FingerResNet18 V2</a:t>
            </a:r>
          </a:p>
          <a:p>
            <a:pPr>
              <a:defRPr sz="1100">
                <a:solidFill>
                  <a:srgbClr val="64748B"/>
                </a:solidFill>
              </a:defRPr>
            </a:pPr>
            <a:r>
              <a:t>• ResNet-18 adapted for single-channel 128x128 impressions</a:t>
            </a:r>
            <a:br/>
            <a:r>
              <a:t>• Fine-tuned using CosFace large-margin loss</a:t>
            </a:r>
            <a:br/>
            <a:r>
              <a:t>• Output: 256-dimensional L2-normalized vector</a:t>
            </a:r>
          </a:p>
        </p:txBody>
      </p:sp>
      <p:sp>
        <p:nvSpPr>
          <p:cNvPr id="9" name="Rounded Rectangle 8"/>
          <p:cNvSpPr/>
          <p:nvPr/>
        </p:nvSpPr>
        <p:spPr>
          <a:xfrm>
            <a:off x="8046720" y="1280160"/>
            <a:ext cx="3474720" cy="24231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17320"/>
            <a:ext cx="3200400" cy="2148840"/>
          </a:xfrm>
          <a:prstGeom prst="rect">
            <a:avLst/>
          </a:prstGeom>
          <a:noFill/>
        </p:spPr>
        <p:txBody>
          <a:bodyPr wrap="square">
            <a:spAutoFit/>
          </a:bodyPr>
          <a:lstStyle/>
          <a:p>
            <a:pPr>
              <a:defRPr sz="1000" b="1">
                <a:solidFill>
                  <a:srgbClr val="10B981"/>
                </a:solidFill>
              </a:defRPr>
            </a:pPr>
            <a:r>
              <a:t>MULTIMODAL FUSION</a:t>
            </a:r>
          </a:p>
          <a:p>
            <a:pPr>
              <a:spcAft>
                <a:spcPts val="600"/>
              </a:spcAft>
              <a:defRPr sz="1400" b="1">
                <a:solidFill>
                  <a:srgbClr val="0F172A"/>
                </a:solidFill>
              </a:defRPr>
            </a:pPr>
            <a:r>
              <a:t>Weighted Feature Concatenation</a:t>
            </a:r>
          </a:p>
          <a:p>
            <a:pPr>
              <a:defRPr sz="1100">
                <a:solidFill>
                  <a:srgbClr val="64748B"/>
                </a:solidFill>
              </a:defRPr>
            </a:pPr>
            <a:r>
              <a:t>• Formula: [sqrt(0.60)*Face, sqrt(0.40)*Finger]</a:t>
            </a:r>
            <a:br/>
            <a:r>
              <a:t>• Produces a 768-dimensional unit-norm vector</a:t>
            </a:r>
            <a:br/>
            <a:r>
              <a:t>• Mathematically preserves unit length (||x||=1)</a:t>
            </a:r>
          </a:p>
        </p:txBody>
      </p:sp>
      <p:sp>
        <p:nvSpPr>
          <p:cNvPr id="11" name="Rounded Rectangle 10"/>
          <p:cNvSpPr/>
          <p:nvPr/>
        </p:nvSpPr>
        <p:spPr>
          <a:xfrm>
            <a:off x="731520" y="3886200"/>
            <a:ext cx="3474720" cy="2423160"/>
          </a:xfrm>
          <a:prstGeom prst="roundRect">
            <a:avLst/>
          </a:prstGeom>
          <a:solidFill>
            <a:srgbClr val="FFFFFF"/>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023360"/>
            <a:ext cx="3200400" cy="2148840"/>
          </a:xfrm>
          <a:prstGeom prst="rect">
            <a:avLst/>
          </a:prstGeom>
          <a:noFill/>
        </p:spPr>
        <p:txBody>
          <a:bodyPr wrap="square">
            <a:spAutoFit/>
          </a:bodyPr>
          <a:lstStyle/>
          <a:p>
            <a:pPr>
              <a:defRPr sz="1000" b="1">
                <a:solidFill>
                  <a:srgbClr val="1E293B"/>
                </a:solidFill>
              </a:defRPr>
            </a:pPr>
            <a:r>
              <a:t>CHAOTIC ENGINE (C++17)</a:t>
            </a:r>
          </a:p>
          <a:p>
            <a:pPr>
              <a:spcAft>
                <a:spcPts val="600"/>
              </a:spcAft>
              <a:defRPr sz="1400" b="1">
                <a:solidFill>
                  <a:srgbClr val="0F172A"/>
                </a:solidFill>
              </a:defRPr>
            </a:pPr>
            <a:r>
              <a:t>Fixed-Point Logistic Map</a:t>
            </a:r>
          </a:p>
          <a:p>
            <a:pPr>
              <a:defRPr sz="1100">
                <a:solidFill>
                  <a:srgbClr val="64748B"/>
                </a:solidFill>
              </a:defRPr>
            </a:pPr>
            <a:r>
              <a:t>• Q64 fixed-point math (zero floating-point divergence)</a:t>
            </a:r>
            <a:br/>
            <a:r>
              <a:t>• Compiled with -ffp-contract=off for 100% bit-exact Windows/Linux matching</a:t>
            </a:r>
            <a:br/>
            <a:r>
              <a:t>• Generates 512x768 random matrix from user key</a:t>
            </a:r>
          </a:p>
        </p:txBody>
      </p:sp>
      <p:sp>
        <p:nvSpPr>
          <p:cNvPr id="13" name="Rounded Rectangle 12"/>
          <p:cNvSpPr/>
          <p:nvPr/>
        </p:nvSpPr>
        <p:spPr>
          <a:xfrm>
            <a:off x="4389120" y="3886200"/>
            <a:ext cx="3474720" cy="24231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4023360"/>
            <a:ext cx="3200400" cy="2148840"/>
          </a:xfrm>
          <a:prstGeom prst="rect">
            <a:avLst/>
          </a:prstGeom>
          <a:noFill/>
        </p:spPr>
        <p:txBody>
          <a:bodyPr wrap="square">
            <a:spAutoFit/>
          </a:bodyPr>
          <a:lstStyle/>
          <a:p>
            <a:pPr>
              <a:defRPr sz="1000" b="1">
                <a:solidFill>
                  <a:srgbClr val="D97706"/>
                </a:solidFill>
              </a:defRPr>
            </a:pPr>
            <a:r>
              <a:t>KEY DERIVATION</a:t>
            </a:r>
          </a:p>
          <a:p>
            <a:pPr>
              <a:spcAft>
                <a:spcPts val="600"/>
              </a:spcAft>
              <a:defRPr sz="1400" b="1">
                <a:solidFill>
                  <a:srgbClr val="0F172A"/>
                </a:solidFill>
              </a:defRPr>
            </a:pPr>
            <a:r>
              <a:t>scrypt + HMAC-SHA256</a:t>
            </a:r>
          </a:p>
          <a:p>
            <a:pPr>
              <a:defRPr sz="1100">
                <a:solidFill>
                  <a:srgbClr val="64748B"/>
                </a:solidFill>
              </a:defRPr>
            </a:pPr>
            <a:r>
              <a:t>• scrypt memory-hard key stretching (N=16384, r=8, p=1)</a:t>
            </a:r>
            <a:br/>
            <a:r>
              <a:t>• Binds user ID, salt, and version into HMAC-SHA256 seed</a:t>
            </a:r>
            <a:br/>
            <a:r>
              <a:t>• Effective keyspace &gt;= 2^126 operations</a:t>
            </a:r>
          </a:p>
        </p:txBody>
      </p:sp>
      <p:sp>
        <p:nvSpPr>
          <p:cNvPr id="15" name="Rounded Rectangle 14"/>
          <p:cNvSpPr/>
          <p:nvPr/>
        </p:nvSpPr>
        <p:spPr>
          <a:xfrm>
            <a:off x="8046720" y="3886200"/>
            <a:ext cx="3474720" cy="24231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4023360"/>
            <a:ext cx="3200400" cy="2148840"/>
          </a:xfrm>
          <a:prstGeom prst="rect">
            <a:avLst/>
          </a:prstGeom>
          <a:noFill/>
        </p:spPr>
        <p:txBody>
          <a:bodyPr wrap="square">
            <a:spAutoFit/>
          </a:bodyPr>
          <a:lstStyle/>
          <a:p>
            <a:pPr>
              <a:defRPr sz="1000" b="1">
                <a:solidFill>
                  <a:srgbClr val="0F172A"/>
                </a:solidFill>
              </a:defRPr>
            </a:pPr>
            <a:r>
              <a:t>PRODUCTION BACKEND</a:t>
            </a:r>
          </a:p>
          <a:p>
            <a:pPr>
              <a:spcAft>
                <a:spcPts val="600"/>
              </a:spcAft>
              <a:defRPr sz="1400" b="1">
                <a:solidFill>
                  <a:srgbClr val="0F172A"/>
                </a:solidFill>
              </a:defRPr>
            </a:pPr>
            <a:r>
              <a:t>FastAPI + PostgreSQL + Streamlit</a:t>
            </a:r>
          </a:p>
          <a:p>
            <a:pPr>
              <a:defRPr sz="1100">
                <a:solidFill>
                  <a:srgbClr val="64748B"/>
                </a:solidFill>
              </a:defRPr>
            </a:pPr>
            <a:r>
              <a:t>• REST API endpoints: /enroll, /verify, /identify, /revoke</a:t>
            </a:r>
            <a:br/>
            <a:r>
              <a:t>• PostgreSQL 16 Alpine with BYTEA(64) templates</a:t>
            </a:r>
            <a:br/>
            <a:r>
              <a:t>• Air-gapped Streamlit web UI + multi-stage Docker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DATASET &amp; EXPERIMENTAL SETUP</a:t>
            </a:r>
          </a:p>
          <a:p>
            <a:pPr>
              <a:defRPr sz="2000" b="1">
                <a:solidFill>
                  <a:srgbClr val="FFFFFF"/>
                </a:solidFill>
              </a:defRPr>
            </a:pPr>
            <a:r>
              <a:t>Database Breakdown: Corpora, Images &amp; Subject Pairing</a:t>
            </a:r>
          </a:p>
        </p:txBody>
      </p:sp>
      <p:sp>
        <p:nvSpPr>
          <p:cNvPr id="5" name="Rounded Rectangle 4"/>
          <p:cNvSpPr/>
          <p:nvPr/>
        </p:nvSpPr>
        <p:spPr>
          <a:xfrm>
            <a:off x="731520" y="1280160"/>
            <a:ext cx="530352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937760" cy="4846320"/>
          </a:xfrm>
          <a:prstGeom prst="rect">
            <a:avLst/>
          </a:prstGeom>
          <a:noFill/>
        </p:spPr>
        <p:txBody>
          <a:bodyPr wrap="square">
            <a:spAutoFit/>
          </a:bodyPr>
          <a:lstStyle/>
          <a:p>
            <a:pPr>
              <a:spcAft>
                <a:spcPts val="800"/>
              </a:spcAft>
              <a:defRPr sz="1600" b="1">
                <a:solidFill>
                  <a:srgbClr val="2563EB"/>
                </a:solidFill>
              </a:defRPr>
            </a:pPr>
            <a:r>
              <a:t>How Was the Database Constructed?</a:t>
            </a:r>
          </a:p>
          <a:p>
            <a:pPr>
              <a:defRPr b="1" sz="1200">
                <a:solidFill>
                  <a:srgbClr val="0F172A"/>
                </a:solidFill>
              </a:defRPr>
            </a:pPr>
            <a:r>
              <a:t>• Face Database (UMDFaces):</a:t>
            </a:r>
          </a:p>
          <a:p>
            <a:pPr>
              <a:spcAft>
                <a:spcPts val="600"/>
              </a:spcAft>
              <a:defRPr sz="1100">
                <a:solidFill>
                  <a:srgbClr val="64748B"/>
                </a:solidFill>
              </a:defRPr>
            </a:pPr>
            <a:r>
              <a:t>367,888 total images across 8,277 identity folders. We selected identities with &gt;= 20 high-quality images (7,173 eligible classes), and randomly sampled 300 identities using fixed seed 42.</a:t>
            </a:r>
          </a:p>
          <a:p>
            <a:pPr>
              <a:defRPr b="1" sz="1200">
                <a:solidFill>
                  <a:srgbClr val="0F172A"/>
                </a:solidFill>
              </a:defRPr>
            </a:pPr>
            <a:r>
              <a:t>• Fingerprint Database (FVC2004):</a:t>
            </a:r>
          </a:p>
          <a:p>
            <a:pPr>
              <a:spcAft>
                <a:spcPts val="600"/>
              </a:spcAft>
              <a:defRPr sz="1100">
                <a:solidFill>
                  <a:srgbClr val="64748B"/>
                </a:solidFill>
              </a:defRPr>
            </a:pPr>
            <a:r>
              <a:t>DB1_A (optical 500 dpi), DB2_A (optical 569 dpi), DB3_A (thermal sweep 512 dpi). Exactly 100 fingers per DB x 8 impressions = 2,400 raw images across 300 fingers. (Plus DB4_A synthetic and DB*_B for pretraining).</a:t>
            </a:r>
          </a:p>
          <a:p>
            <a:pPr>
              <a:defRPr b="1" sz="1200">
                <a:solidFill>
                  <a:srgbClr val="0F172A"/>
                </a:solidFill>
              </a:defRPr>
            </a:pPr>
            <a:r>
              <a:t>• Virtual Chimeric Pairing:</a:t>
            </a:r>
          </a:p>
          <a:p>
            <a:pPr>
              <a:spcAft>
                <a:spcPts val="600"/>
              </a:spcAft>
              <a:defRPr sz="1100">
                <a:solidFill>
                  <a:srgbClr val="64748B"/>
                </a:solidFill>
              </a:defRPr>
            </a:pPr>
            <a:r>
              <a:t>Because no freely downloadable paired face+fingerprint dataset exists with open research rights, face identity k was paired with fingerprint k using seed 42, creating 300 Virtual Subjects (VS_0001 to VS_0300).</a:t>
            </a:r>
          </a:p>
          <a:p>
            <a:pPr>
              <a:defRPr b="1" sz="1200">
                <a:solidFill>
                  <a:srgbClr val="0F172A"/>
                </a:solidFill>
              </a:defRPr>
            </a:pPr>
            <a:r>
              <a:t>• Images Used Per Subject:</a:t>
            </a:r>
          </a:p>
          <a:p>
            <a:pPr>
              <a:spcAft>
                <a:spcPts val="600"/>
              </a:spcAft>
              <a:defRPr sz="1100">
                <a:solidFill>
                  <a:srgbClr val="64748B"/>
                </a:solidFill>
              </a:defRPr>
            </a:pPr>
            <a:r>
              <a:t>Exactly 5 enrollment images (averaged to create gallery template) and 3 probe images (for genuine testing) = 8 images per subject (2,400 faces and 2,400 fingerprints used).</a:t>
            </a:r>
          </a:p>
        </p:txBody>
      </p:sp>
      <p:sp>
        <p:nvSpPr>
          <p:cNvPr id="7" name="Rounded Rectangle 6"/>
          <p:cNvSpPr/>
          <p:nvPr/>
        </p:nvSpPr>
        <p:spPr>
          <a:xfrm>
            <a:off x="6217920" y="1280160"/>
            <a:ext cx="521208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4846320" cy="1097280"/>
          </a:xfrm>
          <a:prstGeom prst="rect">
            <a:avLst/>
          </a:prstGeom>
          <a:noFill/>
        </p:spPr>
        <p:txBody>
          <a:bodyPr wrap="square">
            <a:spAutoFit/>
          </a:bodyPr>
          <a:lstStyle/>
          <a:p>
            <a:pPr>
              <a:defRPr sz="1500" b="1">
                <a:solidFill>
                  <a:srgbClr val="1E293B"/>
                </a:solidFill>
              </a:defRPr>
            </a:pPr>
            <a:r>
              <a:t>Fingerprint Sensor Enhancement (FVC2004)</a:t>
            </a:r>
          </a:p>
          <a:p>
            <a:pPr>
              <a:defRPr sz="1100">
                <a:solidFill>
                  <a:srgbClr val="64748B"/>
                </a:solidFill>
              </a:defRPr>
            </a:pPr>
            <a:r>
              <a:t>Raw impressions enhanced via 4-stage CLAHE &amp; foreground segmentation:</a:t>
            </a:r>
          </a:p>
        </p:txBody>
      </p:sp>
      <p:pic>
        <p:nvPicPr>
          <p:cNvPr id="9" name="Picture 8" descr="face_folder_check.png"/>
          <p:cNvPicPr>
            <a:picLocks noChangeAspect="1"/>
          </p:cNvPicPr>
          <p:nvPr/>
        </p:nvPicPr>
        <p:blipFill>
          <a:blip r:embed="rId2"/>
          <a:stretch>
            <a:fillRect/>
          </a:stretch>
        </p:blipFill>
        <p:spPr>
          <a:xfrm>
            <a:off x="6400800" y="2468880"/>
            <a:ext cx="4846320" cy="234616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DATASET PARTITIONING</a:t>
            </a:r>
          </a:p>
          <a:p>
            <a:pPr>
              <a:defRPr sz="2000" b="1">
                <a:solidFill>
                  <a:srgbClr val="FFFFFF"/>
                </a:solidFill>
              </a:defRPr>
            </a:pPr>
            <a:r>
              <a:t>Subject-Disjoint Splits &amp; Protocol D-009</a:t>
            </a:r>
          </a:p>
        </p:txBody>
      </p:sp>
      <p:sp>
        <p:nvSpPr>
          <p:cNvPr id="5" name="Rounded Rectangle 4"/>
          <p:cNvSpPr/>
          <p:nvPr/>
        </p:nvSpPr>
        <p:spPr>
          <a:xfrm>
            <a:off x="731520" y="1280160"/>
            <a:ext cx="3383280" cy="2468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71600"/>
            <a:ext cx="3108960" cy="2286000"/>
          </a:xfrm>
          <a:prstGeom prst="rect">
            <a:avLst/>
          </a:prstGeom>
          <a:noFill/>
        </p:spPr>
        <p:txBody>
          <a:bodyPr wrap="square">
            <a:spAutoFit/>
          </a:bodyPr>
          <a:lstStyle/>
          <a:p>
            <a:pPr>
              <a:defRPr sz="1500" b="1">
                <a:solidFill>
                  <a:srgbClr val="2563EB"/>
                </a:solidFill>
              </a:defRPr>
            </a:pPr>
            <a:r>
              <a:t>Training Split (60%)</a:t>
            </a:r>
          </a:p>
          <a:p>
            <a:pPr>
              <a:spcAft>
                <a:spcPts val="800"/>
              </a:spcAft>
              <a:defRPr sz="1000" b="1">
                <a:solidFill>
                  <a:srgbClr val="64748B"/>
                </a:solidFill>
              </a:defRPr>
            </a:pPr>
            <a:r>
              <a:t>180 Virtual Subjects (1,440 images/modality)</a:t>
            </a:r>
          </a:p>
          <a:p>
            <a:pPr>
              <a:defRPr sz="1100">
                <a:solidFill>
                  <a:srgbClr val="0F172A"/>
                </a:solidFill>
              </a:defRPr>
            </a:pPr>
            <a:r>
              <a:t>• Used to fine-tune FingerResNet18 encoder</a:t>
            </a:r>
            <a:br/>
            <a:r>
              <a:t>• Computes public centering vector mu</a:t>
            </a:r>
            <a:br/>
            <a:r>
              <a:t>• Trains adversarial reconstruction attack decoders</a:t>
            </a:r>
            <a:br/>
            <a:r>
              <a:t>• Zero test-subject data ever seen</a:t>
            </a:r>
          </a:p>
        </p:txBody>
      </p:sp>
      <p:sp>
        <p:nvSpPr>
          <p:cNvPr id="7" name="Rounded Rectangle 6"/>
          <p:cNvSpPr/>
          <p:nvPr/>
        </p:nvSpPr>
        <p:spPr>
          <a:xfrm>
            <a:off x="4389120" y="1280160"/>
            <a:ext cx="3383280" cy="24688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371600"/>
            <a:ext cx="3108960" cy="2286000"/>
          </a:xfrm>
          <a:prstGeom prst="rect">
            <a:avLst/>
          </a:prstGeom>
          <a:noFill/>
        </p:spPr>
        <p:txBody>
          <a:bodyPr wrap="square">
            <a:spAutoFit/>
          </a:bodyPr>
          <a:lstStyle/>
          <a:p>
            <a:pPr>
              <a:defRPr sz="1500" b="1">
                <a:solidFill>
                  <a:srgbClr val="D97706"/>
                </a:solidFill>
              </a:defRPr>
            </a:pPr>
            <a:r>
              <a:t>Validation Split (10%)</a:t>
            </a:r>
          </a:p>
          <a:p>
            <a:pPr>
              <a:spcAft>
                <a:spcPts val="800"/>
              </a:spcAft>
              <a:defRPr sz="1000" b="1">
                <a:solidFill>
                  <a:srgbClr val="64748B"/>
                </a:solidFill>
              </a:defRPr>
            </a:pPr>
            <a:r>
              <a:t>30 Virtual Subjects (240 images/modality)</a:t>
            </a:r>
          </a:p>
          <a:p>
            <a:pPr>
              <a:defRPr sz="1100">
                <a:solidFill>
                  <a:srgbClr val="0F172A"/>
                </a:solidFill>
              </a:defRPr>
            </a:pPr>
            <a:r>
              <a:t>• Calibrates modality fusion weight w = 0.60</a:t>
            </a:r>
            <a:br/>
            <a:r>
              <a:t>• Selects projection dimension m = 512 bits</a:t>
            </a:r>
            <a:br/>
            <a:r>
              <a:t>• Tunes enrollment quality gates (0.45 / 0.60)</a:t>
            </a:r>
            <a:br/>
            <a:r>
              <a:t>• Sets operational decision thresholds (tau)</a:t>
            </a:r>
          </a:p>
        </p:txBody>
      </p:sp>
      <p:sp>
        <p:nvSpPr>
          <p:cNvPr id="9" name="Rounded Rectangle 8"/>
          <p:cNvSpPr/>
          <p:nvPr/>
        </p:nvSpPr>
        <p:spPr>
          <a:xfrm>
            <a:off x="8046720" y="1280160"/>
            <a:ext cx="3383280" cy="24688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371600"/>
            <a:ext cx="3108960" cy="2286000"/>
          </a:xfrm>
          <a:prstGeom prst="rect">
            <a:avLst/>
          </a:prstGeom>
          <a:noFill/>
        </p:spPr>
        <p:txBody>
          <a:bodyPr wrap="square">
            <a:spAutoFit/>
          </a:bodyPr>
          <a:lstStyle/>
          <a:p>
            <a:pPr>
              <a:defRPr sz="1500" b="1">
                <a:solidFill>
                  <a:srgbClr val="10B981"/>
                </a:solidFill>
              </a:defRPr>
            </a:pPr>
            <a:r>
              <a:t>Test Split (40%)</a:t>
            </a:r>
          </a:p>
          <a:p>
            <a:pPr>
              <a:spcAft>
                <a:spcPts val="800"/>
              </a:spcAft>
              <a:defRPr sz="1000" b="1">
                <a:solidFill>
                  <a:srgbClr val="64748B"/>
                </a:solidFill>
              </a:defRPr>
            </a:pPr>
            <a:r>
              <a:t>120 Virtual Subjects (960 images/modality)</a:t>
            </a:r>
          </a:p>
          <a:p>
            <a:pPr>
              <a:defRPr sz="1100">
                <a:solidFill>
                  <a:srgbClr val="0F172A"/>
                </a:solidFill>
              </a:defRPr>
            </a:pPr>
            <a:r>
              <a:t>• STRICTLY HELD-OUT evaluation set</a:t>
            </a:r>
            <a:br/>
            <a:r>
              <a:t>• 40 subjects per fingerprint sensor database</a:t>
            </a:r>
            <a:br/>
            <a:r>
              <a:t>• All reported EER, ROC, CMC &amp; Security metrics evaluated exclusively on this set</a:t>
            </a:r>
          </a:p>
        </p:txBody>
      </p:sp>
      <p:sp>
        <p:nvSpPr>
          <p:cNvPr id="11" name="Rounded Rectangle 10"/>
          <p:cNvSpPr/>
          <p:nvPr/>
        </p:nvSpPr>
        <p:spPr>
          <a:xfrm>
            <a:off x="731520" y="3931920"/>
            <a:ext cx="10698480" cy="24688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69080"/>
            <a:ext cx="10149840" cy="2194560"/>
          </a:xfrm>
          <a:prstGeom prst="rect">
            <a:avLst/>
          </a:prstGeom>
          <a:noFill/>
        </p:spPr>
        <p:txBody>
          <a:bodyPr wrap="square">
            <a:spAutoFit/>
          </a:bodyPr>
          <a:lstStyle/>
          <a:p>
            <a:pPr>
              <a:spcAft>
                <a:spcPts val="600"/>
              </a:spcAft>
              <a:defRPr sz="1500" b="1">
                <a:solidFill>
                  <a:srgbClr val="0F172A"/>
                </a:solidFill>
              </a:defRPr>
            </a:pPr>
            <a:r>
              <a:t>How Did We Identify Users? Protocol D-009 (Within-Sensor Impostors)</a:t>
            </a:r>
          </a:p>
          <a:p>
            <a:pPr>
              <a:spcAft>
                <a:spcPts val="300"/>
              </a:spcAft>
              <a:defRPr sz="1100">
                <a:solidFill>
                  <a:srgbClr val="0F172A"/>
                </a:solidFill>
              </a:defRPr>
            </a:pPr>
            <a:r>
              <a:t>• Rigorous Sensor Stratification: 120 test subjects are divided equally: 40 on DB1 (optical), 40 on DB2 (optical), and 40 on DB3 (thermal sweep).</a:t>
            </a:r>
          </a:p>
          <a:p>
            <a:pPr>
              <a:spcAft>
                <a:spcPts val="300"/>
              </a:spcAft>
              <a:defRPr sz="1100">
                <a:solidFill>
                  <a:srgbClr val="0F172A"/>
                </a:solidFill>
              </a:defRPr>
            </a:pPr>
            <a:r>
              <a:t>• Within-Sensor Impostor Constraint: Cross-matching an optical sensor against a thermal sensor gives artificially easy impostor scores. To prevent fake inflated accuracy, impostor comparisons were strictly restricted to the SAME sensor database.</a:t>
            </a:r>
          </a:p>
          <a:p>
            <a:pPr>
              <a:spcAft>
                <a:spcPts val="300"/>
              </a:spcAft>
              <a:defRPr sz="1100">
                <a:solidFill>
                  <a:srgbClr val="0F172A"/>
                </a:solidFill>
              </a:defRPr>
            </a:pPr>
            <a:r>
              <a:t>• Total Test Comparisons: Each of the 40 gallery subjects is compared against 3 probe impressions of the 39 other subjects: 40 x 39 x 3 = 4,680 impostors per database x 3 databases = 14,040 rigorous impostor comparisons, and 120 subjects x 3 probes = 360 genuine trials.</a:t>
            </a:r>
          </a:p>
          <a:p>
            <a:pPr>
              <a:spcAft>
                <a:spcPts val="300"/>
              </a:spcAft>
              <a:defRPr sz="1100">
                <a:solidFill>
                  <a:srgbClr val="0F172A"/>
                </a:solidFill>
              </a:defRPr>
            </a:pPr>
            <a:r>
              <a:t>• Split Manifest Integrity: Cryptographically hashed to SHA-256 (a3454a7c...) in data/processed/split_manifest.json to ensure 100% scientific reproducibility.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BASELINE ACCURACY RESULTS</a:t>
            </a:r>
          </a:p>
          <a:p>
            <a:pPr>
              <a:defRPr sz="2000" b="1">
                <a:solidFill>
                  <a:srgbClr val="FFFFFF"/>
                </a:solidFill>
              </a:defRPr>
            </a:pPr>
            <a:r>
              <a:t>Unprotected Baseline: Multimodal Fusion Accuracy</a:t>
            </a:r>
          </a:p>
        </p:txBody>
      </p:sp>
      <p:sp>
        <p:nvSpPr>
          <p:cNvPr id="5" name="Rounded Rectangle 4"/>
          <p:cNvSpPr/>
          <p:nvPr/>
        </p:nvSpPr>
        <p:spPr>
          <a:xfrm>
            <a:off x="731520" y="1280160"/>
            <a:ext cx="530352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937760" cy="4846320"/>
          </a:xfrm>
          <a:prstGeom prst="rect">
            <a:avLst/>
          </a:prstGeom>
          <a:noFill/>
        </p:spPr>
        <p:txBody>
          <a:bodyPr wrap="square">
            <a:spAutoFit/>
          </a:bodyPr>
          <a:lstStyle/>
          <a:p>
            <a:pPr>
              <a:spcAft>
                <a:spcPts val="800"/>
              </a:spcAft>
              <a:defRPr sz="1500" b="1">
                <a:solidFill>
                  <a:srgbClr val="2563EB"/>
                </a:solidFill>
              </a:defRPr>
            </a:pPr>
            <a:r>
              <a:t>Unprotected Recognition Metrics (120 Test Subjects)</a:t>
            </a:r>
          </a:p>
          <a:p>
            <a:pPr>
              <a:defRPr b="1" sz="1300">
                <a:solidFill>
                  <a:srgbClr val="0F172A"/>
                </a:solidFill>
              </a:defRPr>
            </a:pPr>
            <a:r>
              <a:t>S1: Face Only (512-d)</a:t>
            </a:r>
          </a:p>
          <a:p>
            <a:pPr>
              <a:spcAft>
                <a:spcPts val="600"/>
              </a:spcAft>
              <a:defRPr sz="1100">
                <a:solidFill>
                  <a:srgbClr val="64748B"/>
                </a:solidFill>
              </a:defRPr>
            </a:pPr>
            <a:r>
              <a:t>  • EER = 2.00%  |  Rank-1 = 97.22%</a:t>
            </a:r>
            <a:br/>
            <a:r>
              <a:t>  • Decidability: d' = 4.78  |  FNMR@1% = 3.33%</a:t>
            </a:r>
          </a:p>
          <a:p>
            <a:pPr>
              <a:defRPr b="1" sz="1300">
                <a:solidFill>
                  <a:srgbClr val="0F172A"/>
                </a:solidFill>
              </a:defRPr>
            </a:pPr>
            <a:r>
              <a:t>S2: Finger Only (256-d)</a:t>
            </a:r>
          </a:p>
          <a:p>
            <a:pPr>
              <a:spcAft>
                <a:spcPts val="600"/>
              </a:spcAft>
              <a:defRPr sz="1100">
                <a:solidFill>
                  <a:srgbClr val="64748B"/>
                </a:solidFill>
              </a:defRPr>
            </a:pPr>
            <a:r>
              <a:t>  • EER = 5.81%  |  Rank-1 = 78.89%</a:t>
            </a:r>
            <a:br/>
            <a:r>
              <a:t>  • Decidability: d' = 3.42  |  FNMR@1% = 26.67%</a:t>
            </a:r>
          </a:p>
          <a:p>
            <a:pPr>
              <a:defRPr b="1" sz="1300">
                <a:solidFill>
                  <a:srgbClr val="10B981"/>
                </a:solidFill>
              </a:defRPr>
            </a:pPr>
            <a:r>
              <a:t>S3: Fused System (768-d)</a:t>
            </a:r>
          </a:p>
          <a:p>
            <a:pPr>
              <a:spcAft>
                <a:spcPts val="600"/>
              </a:spcAft>
              <a:defRPr sz="1100">
                <a:solidFill>
                  <a:srgbClr val="64748B"/>
                </a:solidFill>
              </a:defRPr>
            </a:pPr>
            <a:r>
              <a:t>  • EER = 1.11%  |  Rank-1 = 99.44%</a:t>
            </a:r>
            <a:br/>
            <a:r>
              <a:t>  • Decidability: d' = 5.91  |  FNMR@1% = 1.11%</a:t>
            </a:r>
          </a:p>
          <a:p>
            <a:pPr>
              <a:defRPr b="1" sz="1300">
                <a:solidFill>
                  <a:srgbClr val="2563EB"/>
                </a:solidFill>
              </a:defRPr>
            </a:pPr>
            <a:r>
              <a:t>Key Takeaway in Simple Terms:</a:t>
            </a:r>
          </a:p>
          <a:p>
            <a:pPr>
              <a:defRPr sz="1100">
                <a:solidFill>
                  <a:srgbClr val="0F172A"/>
                </a:solidFill>
              </a:defRPr>
            </a:pPr>
            <a:r>
              <a:t>Combining face and fingerprint reduces the error rate from 2.00% down to 1.11%—a 44.5% error reduction! Rank-1 identification reaches near-perfection at 99.44% across 40-subject galleries.</a:t>
            </a:r>
          </a:p>
        </p:txBody>
      </p:sp>
      <p:sp>
        <p:nvSpPr>
          <p:cNvPr id="7" name="Rounded Rectangle 6"/>
          <p:cNvSpPr/>
          <p:nvPr/>
        </p:nvSpPr>
        <p:spPr>
          <a:xfrm>
            <a:off x="6217920" y="1280160"/>
            <a:ext cx="521208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usion_roc.png"/>
          <p:cNvPicPr>
            <a:picLocks noChangeAspect="1"/>
          </p:cNvPicPr>
          <p:nvPr/>
        </p:nvPicPr>
        <p:blipFill>
          <a:blip r:embed="rId2"/>
          <a:stretch>
            <a:fillRect/>
          </a:stretch>
        </p:blipFill>
        <p:spPr>
          <a:xfrm>
            <a:off x="6400800" y="1554480"/>
            <a:ext cx="4846320" cy="2076994"/>
          </a:xfrm>
          <a:prstGeom prst="rect">
            <a:avLst/>
          </a:prstGeom>
        </p:spPr>
      </p:pic>
      <p:sp>
        <p:nvSpPr>
          <p:cNvPr id="9" name="TextBox 8"/>
          <p:cNvSpPr txBox="1"/>
          <p:nvPr/>
        </p:nvSpPr>
        <p:spPr>
          <a:xfrm>
            <a:off x="6400800" y="5669280"/>
            <a:ext cx="4846320" cy="548640"/>
          </a:xfrm>
          <a:prstGeom prst="rect">
            <a:avLst/>
          </a:prstGeom>
          <a:noFill/>
        </p:spPr>
        <p:txBody>
          <a:bodyPr wrap="square">
            <a:spAutoFit/>
          </a:bodyPr>
          <a:lstStyle/>
          <a:p>
            <a:pPr>
              <a:defRPr sz="1000">
                <a:solidFill>
                  <a:srgbClr val="64748B"/>
                </a:solidFill>
              </a:defRPr>
            </a:pPr>
            <a:r>
              <a:t>Figure: ROC Curves showing Fused System S3 (green) pushing curve tightly toward top-left.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CANCELABLE ACCURACY FINDINGS</a:t>
            </a:r>
          </a:p>
          <a:p>
            <a:pPr>
              <a:defRPr sz="2000" b="1">
                <a:solidFill>
                  <a:srgbClr val="FFFFFF"/>
                </a:solidFill>
              </a:defRPr>
            </a:pPr>
            <a:r>
              <a:t>Cancelable Biometric Accuracy: Performance Preservation</a:t>
            </a:r>
          </a:p>
        </p:txBody>
      </p:sp>
      <p:sp>
        <p:nvSpPr>
          <p:cNvPr id="5" name="Rounded Rectangle 4"/>
          <p:cNvSpPr/>
          <p:nvPr/>
        </p:nvSpPr>
        <p:spPr>
          <a:xfrm>
            <a:off x="731520" y="1280160"/>
            <a:ext cx="530352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937760" cy="4846320"/>
          </a:xfrm>
          <a:prstGeom prst="rect">
            <a:avLst/>
          </a:prstGeom>
          <a:noFill/>
        </p:spPr>
        <p:txBody>
          <a:bodyPr wrap="square">
            <a:spAutoFit/>
          </a:bodyPr>
          <a:lstStyle/>
          <a:p>
            <a:pPr>
              <a:spcAft>
                <a:spcPts val="800"/>
              </a:spcAft>
              <a:defRPr sz="1500" b="1">
                <a:solidFill>
                  <a:srgbClr val="10B981"/>
                </a:solidFill>
              </a:defRPr>
            </a:pPr>
            <a:r>
              <a:t>Scenario K (Operational / Stolen-Key Case)</a:t>
            </a:r>
          </a:p>
          <a:p>
            <a:pPr>
              <a:defRPr b="1" sz="1200">
                <a:solidFill>
                  <a:srgbClr val="0F172A"/>
                </a:solidFill>
              </a:defRPr>
            </a:pPr>
            <a:r>
              <a:t>• Cancelable EER (m = 512 bits): </a:t>
            </a:r>
          </a:p>
          <a:p>
            <a:pPr>
              <a:spcAft>
                <a:spcPts val="500"/>
              </a:spcAft>
              <a:defRPr sz="1100">
                <a:solidFill>
                  <a:srgbClr val="64748B"/>
                </a:solidFill>
              </a:defRPr>
            </a:pPr>
            <a:r>
              <a:t>1.29% ± 0.23% (tested across 10 random master keys)</a:t>
            </a:r>
          </a:p>
          <a:p>
            <a:pPr>
              <a:defRPr b="1" sz="1200">
                <a:solidFill>
                  <a:srgbClr val="0F172A"/>
                </a:solidFill>
              </a:defRPr>
            </a:pPr>
            <a:r>
              <a:t>• Unprotected Baseline EER: </a:t>
            </a:r>
          </a:p>
          <a:p>
            <a:pPr>
              <a:spcAft>
                <a:spcPts val="500"/>
              </a:spcAft>
              <a:defRPr sz="1100">
                <a:solidFill>
                  <a:srgbClr val="64748B"/>
                </a:solidFill>
              </a:defRPr>
            </a:pPr>
            <a:r>
              <a:t>1.11% ± 0.22% (Delta EER = only +0.213%)</a:t>
            </a:r>
          </a:p>
          <a:p>
            <a:pPr>
              <a:defRPr b="1" sz="1200">
                <a:solidFill>
                  <a:srgbClr val="0F172A"/>
                </a:solidFill>
              </a:defRPr>
            </a:pPr>
            <a:r>
              <a:t>• Paired Bootstrap Test (1,000 resamples): </a:t>
            </a:r>
          </a:p>
          <a:p>
            <a:pPr>
              <a:spcAft>
                <a:spcPts val="500"/>
              </a:spcAft>
              <a:defRPr sz="1100">
                <a:solidFill>
                  <a:srgbClr val="64748B"/>
                </a:solidFill>
              </a:defRPr>
            </a:pPr>
            <a:r>
              <a:t>95% Confidence Interval: [-0.135%, +0.688%]. Because 0 is included, the slight difference is STATISTICALLY ZERO (p &gt; 0.05)!</a:t>
            </a:r>
          </a:p>
          <a:p>
            <a:pPr>
              <a:defRPr b="1" sz="1200">
                <a:solidFill>
                  <a:srgbClr val="0F172A"/>
                </a:solidFill>
              </a:defRPr>
            </a:pPr>
            <a:r>
              <a:t>• Decidability Index (d'): </a:t>
            </a:r>
          </a:p>
          <a:p>
            <a:pPr>
              <a:spcAft>
                <a:spcPts val="500"/>
              </a:spcAft>
              <a:defRPr sz="1100">
                <a:solidFill>
                  <a:srgbClr val="64748B"/>
                </a:solidFill>
              </a:defRPr>
            </a:pPr>
            <a:r>
              <a:t>5.29 (extremely clean separation between genuine and impostor)</a:t>
            </a:r>
          </a:p>
          <a:p>
            <a:pPr>
              <a:defRPr b="1" sz="1200">
                <a:solidFill>
                  <a:srgbClr val="0F172A"/>
                </a:solidFill>
              </a:defRPr>
            </a:pPr>
            <a:r>
              <a:t>• Rank-1 Identification Accuracy: </a:t>
            </a:r>
          </a:p>
          <a:p>
            <a:pPr>
              <a:spcAft>
                <a:spcPts val="500"/>
              </a:spcAft>
              <a:defRPr sz="1100">
                <a:solidFill>
                  <a:srgbClr val="64748B"/>
                </a:solidFill>
              </a:defRPr>
            </a:pPr>
            <a:r>
              <a:t>98.81% ± 0.31% (Rank-3 reaches 100.00%)</a:t>
            </a:r>
          </a:p>
          <a:p>
            <a:pPr>
              <a:defRPr b="1" sz="1200">
                <a:solidFill>
                  <a:srgbClr val="0F172A"/>
                </a:solidFill>
              </a:defRPr>
            </a:pPr>
            <a:r>
              <a:t>• Scenario U (Attacker uses wrong key): </a:t>
            </a:r>
          </a:p>
          <a:p>
            <a:pPr>
              <a:spcAft>
                <a:spcPts val="500"/>
              </a:spcAft>
              <a:defRPr sz="1100">
                <a:solidFill>
                  <a:srgbClr val="64748B"/>
                </a:solidFill>
              </a:defRPr>
            </a:pPr>
            <a:r>
              <a:t>EER = 0.0000% (Hamming distance = 0.50, perfect random separation)</a:t>
            </a:r>
          </a:p>
        </p:txBody>
      </p:sp>
      <p:sp>
        <p:nvSpPr>
          <p:cNvPr id="7" name="Rounded Rectangle 6"/>
          <p:cNvSpPr/>
          <p:nvPr/>
        </p:nvSpPr>
        <p:spPr>
          <a:xfrm>
            <a:off x="6217920" y="1280160"/>
            <a:ext cx="521208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ancelable_roc.png"/>
          <p:cNvPicPr>
            <a:picLocks noChangeAspect="1"/>
          </p:cNvPicPr>
          <p:nvPr/>
        </p:nvPicPr>
        <p:blipFill>
          <a:blip r:embed="rId2"/>
          <a:stretch>
            <a:fillRect/>
          </a:stretch>
        </p:blipFill>
        <p:spPr>
          <a:xfrm>
            <a:off x="6400800" y="1463040"/>
            <a:ext cx="4846320" cy="3634740"/>
          </a:xfrm>
          <a:prstGeom prst="rect">
            <a:avLst/>
          </a:prstGeom>
        </p:spPr>
      </p:pic>
      <p:sp>
        <p:nvSpPr>
          <p:cNvPr id="9" name="TextBox 8"/>
          <p:cNvSpPr txBox="1"/>
          <p:nvPr/>
        </p:nvSpPr>
        <p:spPr>
          <a:xfrm>
            <a:off x="6400800" y="5669280"/>
            <a:ext cx="4846320" cy="548640"/>
          </a:xfrm>
          <a:prstGeom prst="rect">
            <a:avLst/>
          </a:prstGeom>
          <a:noFill/>
        </p:spPr>
        <p:txBody>
          <a:bodyPr wrap="square">
            <a:spAutoFit/>
          </a:bodyPr>
          <a:lstStyle/>
          <a:p>
            <a:pPr>
              <a:defRPr sz="1000">
                <a:solidFill>
                  <a:srgbClr val="64748B"/>
                </a:solidFill>
              </a:defRPr>
            </a:pPr>
            <a:r>
              <a:t>Figure: ROC Curves showing cancelable Scenario K closely tracking unprotected baseline S3.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IDENTIFICATION PERFORMANCE</a:t>
            </a:r>
          </a:p>
          <a:p>
            <a:pPr>
              <a:defRPr sz="2000" b="1">
                <a:solidFill>
                  <a:srgbClr val="FFFFFF"/>
                </a:solidFill>
              </a:defRPr>
            </a:pPr>
            <a:r>
              <a:t>1:N Identification Accuracy: Finding Users in a Database</a:t>
            </a:r>
          </a:p>
        </p:txBody>
      </p:sp>
      <p:sp>
        <p:nvSpPr>
          <p:cNvPr id="5" name="Rounded Rectangle 4"/>
          <p:cNvSpPr/>
          <p:nvPr/>
        </p:nvSpPr>
        <p:spPr>
          <a:xfrm>
            <a:off x="731520" y="1280160"/>
            <a:ext cx="530352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937760" cy="4846320"/>
          </a:xfrm>
          <a:prstGeom prst="rect">
            <a:avLst/>
          </a:prstGeom>
          <a:noFill/>
        </p:spPr>
        <p:txBody>
          <a:bodyPr wrap="square">
            <a:spAutoFit/>
          </a:bodyPr>
          <a:lstStyle/>
          <a:p>
            <a:pPr>
              <a:spcAft>
                <a:spcPts val="800"/>
              </a:spcAft>
              <a:defRPr sz="1500" b="1">
                <a:solidFill>
                  <a:srgbClr val="2563EB"/>
                </a:solidFill>
              </a:defRPr>
            </a:pPr>
            <a:r>
              <a:t>Cumulative Match Characteristic (CMC) Analysis</a:t>
            </a:r>
          </a:p>
          <a:p>
            <a:pPr>
              <a:defRPr b="1" sz="1200">
                <a:solidFill>
                  <a:srgbClr val="0F172A"/>
                </a:solidFill>
              </a:defRPr>
            </a:pPr>
            <a:r>
              <a:t>• DB1_A Gallery (Optical 500 dpi):</a:t>
            </a:r>
          </a:p>
          <a:p>
            <a:pPr>
              <a:spcAft>
                <a:spcPts val="600"/>
              </a:spcAft>
              <a:defRPr sz="1100">
                <a:solidFill>
                  <a:srgbClr val="64748B"/>
                </a:solidFill>
              </a:defRPr>
            </a:pPr>
            <a:r>
              <a:t>Rank-1 Accuracy = 98.42%</a:t>
            </a:r>
          </a:p>
          <a:p>
            <a:pPr>
              <a:defRPr b="1" sz="1200">
                <a:solidFill>
                  <a:srgbClr val="0F172A"/>
                </a:solidFill>
              </a:defRPr>
            </a:pPr>
            <a:r>
              <a:t>• DB2_A Gallery (Optical 569 dpi):</a:t>
            </a:r>
          </a:p>
          <a:p>
            <a:pPr>
              <a:spcAft>
                <a:spcPts val="600"/>
              </a:spcAft>
              <a:defRPr sz="1100">
                <a:solidFill>
                  <a:srgbClr val="64748B"/>
                </a:solidFill>
              </a:defRPr>
            </a:pPr>
            <a:r>
              <a:t>Rank-1 Accuracy = 98.00%</a:t>
            </a:r>
          </a:p>
          <a:p>
            <a:pPr>
              <a:defRPr b="1" sz="1200">
                <a:solidFill>
                  <a:srgbClr val="0F172A"/>
                </a:solidFill>
              </a:defRPr>
            </a:pPr>
            <a:r>
              <a:t>• DB3_A Gallery (Thermal Sweep 512 dpi):</a:t>
            </a:r>
          </a:p>
          <a:p>
            <a:pPr>
              <a:spcAft>
                <a:spcPts val="600"/>
              </a:spcAft>
              <a:defRPr sz="1100">
                <a:solidFill>
                  <a:srgbClr val="64748B"/>
                </a:solidFill>
              </a:defRPr>
            </a:pPr>
            <a:r>
              <a:t>Rank-1 Accuracy = 100.00%</a:t>
            </a:r>
          </a:p>
          <a:p>
            <a:pPr>
              <a:defRPr b="1" sz="1200">
                <a:solidFill>
                  <a:srgbClr val="0F172A"/>
                </a:solidFill>
              </a:defRPr>
            </a:pPr>
            <a:r>
              <a:t>• Overall Pooled Rank-1 Accuracy:</a:t>
            </a:r>
          </a:p>
          <a:p>
            <a:pPr>
              <a:spcAft>
                <a:spcPts val="600"/>
              </a:spcAft>
              <a:defRPr sz="1100">
                <a:solidFill>
                  <a:srgbClr val="64748B"/>
                </a:solidFill>
              </a:defRPr>
            </a:pPr>
            <a:r>
              <a:t>98.81% ± 0.31% (across 10 random keys)</a:t>
            </a:r>
          </a:p>
          <a:p>
            <a:pPr>
              <a:defRPr b="1" sz="1200">
                <a:solidFill>
                  <a:srgbClr val="0F172A"/>
                </a:solidFill>
              </a:defRPr>
            </a:pPr>
            <a:r>
              <a:t>• Rank-3 Accuracy:</a:t>
            </a:r>
          </a:p>
          <a:p>
            <a:pPr>
              <a:spcAft>
                <a:spcPts val="600"/>
              </a:spcAft>
              <a:defRPr sz="1100">
                <a:solidFill>
                  <a:srgbClr val="64748B"/>
                </a:solidFill>
              </a:defRPr>
            </a:pPr>
            <a:r>
              <a:t>100.00% across all galleries and sensors</a:t>
            </a:r>
          </a:p>
          <a:p>
            <a:pPr>
              <a:defRPr b="1" sz="1200">
                <a:solidFill>
                  <a:srgbClr val="0F172A"/>
                </a:solidFill>
              </a:defRPr>
            </a:pPr>
            <a:r>
              <a:t>• How 1:N Search Works:</a:t>
            </a:r>
          </a:p>
          <a:p>
            <a:pPr>
              <a:spcAft>
                <a:spcPts val="600"/>
              </a:spcAft>
              <a:defRPr sz="1100">
                <a:solidFill>
                  <a:srgbClr val="64748B"/>
                </a:solidFill>
              </a:defRPr>
            </a:pPr>
            <a:r>
              <a:t>A probe image is projected using the server's key, and its 512-bit template is compared against all enrolled templates in the database using fast bitwise XOR (Hamming distance). The closest match is identified in under 1 millisecond!</a:t>
            </a:r>
          </a:p>
        </p:txBody>
      </p:sp>
      <p:sp>
        <p:nvSpPr>
          <p:cNvPr id="7" name="Rounded Rectangle 6"/>
          <p:cNvSpPr/>
          <p:nvPr/>
        </p:nvSpPr>
        <p:spPr>
          <a:xfrm>
            <a:off x="6217920" y="1280160"/>
            <a:ext cx="521208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ancelable_cmc.png"/>
          <p:cNvPicPr>
            <a:picLocks noChangeAspect="1"/>
          </p:cNvPicPr>
          <p:nvPr/>
        </p:nvPicPr>
        <p:blipFill>
          <a:blip r:embed="rId2"/>
          <a:stretch>
            <a:fillRect/>
          </a:stretch>
        </p:blipFill>
        <p:spPr>
          <a:xfrm>
            <a:off x="6400800" y="1463040"/>
            <a:ext cx="4846320" cy="3028950"/>
          </a:xfrm>
          <a:prstGeom prst="rect">
            <a:avLst/>
          </a:prstGeom>
        </p:spPr>
      </p:pic>
      <p:sp>
        <p:nvSpPr>
          <p:cNvPr id="9" name="TextBox 8"/>
          <p:cNvSpPr txBox="1"/>
          <p:nvPr/>
        </p:nvSpPr>
        <p:spPr>
          <a:xfrm>
            <a:off x="6400800" y="5669280"/>
            <a:ext cx="4846320" cy="548640"/>
          </a:xfrm>
          <a:prstGeom prst="rect">
            <a:avLst/>
          </a:prstGeom>
          <a:noFill/>
        </p:spPr>
        <p:txBody>
          <a:bodyPr wrap="square">
            <a:spAutoFit/>
          </a:bodyPr>
          <a:lstStyle/>
          <a:p>
            <a:pPr>
              <a:defRPr sz="1000">
                <a:solidFill>
                  <a:srgbClr val="64748B"/>
                </a:solidFill>
              </a:defRPr>
            </a:pPr>
            <a:r>
              <a:t>Figure: CMC curves showing Rank-1 reaching 98.81% and Rank-3 reaching 100.00%.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STANDARDS COMPLIANCE</a:t>
            </a:r>
          </a:p>
          <a:p>
            <a:pPr>
              <a:defRPr sz="2000" b="1">
                <a:solidFill>
                  <a:srgbClr val="FFFFFF"/>
                </a:solidFill>
              </a:defRPr>
            </a:pPr>
            <a:r>
              <a:t>ISO/IEC 30136 Compliance: Revocability &amp; Unlinkability</a:t>
            </a:r>
          </a:p>
        </p:txBody>
      </p:sp>
      <p:sp>
        <p:nvSpPr>
          <p:cNvPr id="5" name="Rounded Rectangle 4"/>
          <p:cNvSpPr/>
          <p:nvPr/>
        </p:nvSpPr>
        <p:spPr>
          <a:xfrm>
            <a:off x="731520" y="1280160"/>
            <a:ext cx="5212080" cy="51206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4846320"/>
          </a:xfrm>
          <a:prstGeom prst="rect">
            <a:avLst/>
          </a:prstGeom>
          <a:noFill/>
        </p:spPr>
        <p:txBody>
          <a:bodyPr wrap="square">
            <a:spAutoFit/>
          </a:bodyPr>
          <a:lstStyle/>
          <a:p>
            <a:pPr>
              <a:spcAft>
                <a:spcPts val="400"/>
              </a:spcAft>
              <a:defRPr sz="1500" b="1">
                <a:solidFill>
                  <a:srgbClr val="10B981"/>
                </a:solidFill>
              </a:defRPr>
            </a:pPr>
            <a:r>
              <a:t>1. Template Revocability</a:t>
            </a:r>
          </a:p>
          <a:p>
            <a:pPr>
              <a:spcAft>
                <a:spcPts val="800"/>
              </a:spcAft>
              <a:defRPr sz="1100" b="1">
                <a:solidFill>
                  <a:srgbClr val="64748B"/>
                </a:solidFill>
              </a:defRPr>
            </a:pPr>
            <a:r>
              <a:t>Can we cancel a compromised credential?</a:t>
            </a:r>
          </a:p>
          <a:p>
            <a:pPr>
              <a:defRPr b="1" sz="1100">
                <a:solidFill>
                  <a:srgbClr val="0F172A"/>
                </a:solidFill>
              </a:defRPr>
            </a:pPr>
            <a:r>
              <a:t>• 100.00% Rejection of Revoked Key:</a:t>
            </a:r>
          </a:p>
          <a:p>
            <a:pPr>
              <a:spcAft>
                <a:spcPts val="400"/>
              </a:spcAft>
              <a:defRPr sz="1000">
                <a:solidFill>
                  <a:srgbClr val="64748B"/>
                </a:solidFill>
              </a:defRPr>
            </a:pPr>
            <a:r>
              <a:t>Presenting a probe with the old revoked key against the renewed template results in a 100.00% False Non-Match Rate (FNMR = 100.00% rejection across both operating thresholds).</a:t>
            </a:r>
          </a:p>
          <a:p>
            <a:pPr>
              <a:defRPr b="1" sz="1100">
                <a:solidFill>
                  <a:srgbClr val="0F172A"/>
                </a:solidFill>
              </a:defRPr>
            </a:pPr>
            <a:r>
              <a:t>• Genuine Recognition Restored:</a:t>
            </a:r>
          </a:p>
          <a:p>
            <a:pPr>
              <a:spcAft>
                <a:spcPts val="400"/>
              </a:spcAft>
              <a:defRPr sz="1000">
                <a:solidFill>
                  <a:srgbClr val="64748B"/>
                </a:solidFill>
              </a:defRPr>
            </a:pPr>
            <a:r>
              <a:t>Re-enrolling with a new key version completely restores genuine recognition: FNMR = 1.67% at operating threshold.</a:t>
            </a:r>
          </a:p>
          <a:p>
            <a:pPr>
              <a:defRPr b="1" sz="1100">
                <a:solidFill>
                  <a:srgbClr val="0F172A"/>
                </a:solidFill>
              </a:defRPr>
            </a:pPr>
            <a:r>
              <a:t>• No Trait Burnout:</a:t>
            </a:r>
          </a:p>
          <a:p>
            <a:pPr>
              <a:spcAft>
                <a:spcPts val="400"/>
              </a:spcAft>
              <a:defRPr sz="1000">
                <a:solidFill>
                  <a:srgbClr val="64748B"/>
                </a:solidFill>
              </a:defRPr>
            </a:pPr>
            <a:r>
              <a:t>The user enrolls the exact same face and fingerprint, but receives a fresh, valid credential.</a:t>
            </a:r>
          </a:p>
        </p:txBody>
      </p:sp>
      <p:pic>
        <p:nvPicPr>
          <p:cNvPr id="7" name="Picture 6" descr="cancelable_revocability_dist.png"/>
          <p:cNvPicPr>
            <a:picLocks noChangeAspect="1"/>
          </p:cNvPicPr>
          <p:nvPr/>
        </p:nvPicPr>
        <p:blipFill>
          <a:blip r:embed="rId2"/>
          <a:stretch>
            <a:fillRect/>
          </a:stretch>
        </p:blipFill>
        <p:spPr>
          <a:xfrm>
            <a:off x="914400" y="3931920"/>
            <a:ext cx="4754880" cy="2641600"/>
          </a:xfrm>
          <a:prstGeom prst="rect">
            <a:avLst/>
          </a:prstGeom>
        </p:spPr>
      </p:pic>
      <p:sp>
        <p:nvSpPr>
          <p:cNvPr id="8" name="Rounded Rectangle 7"/>
          <p:cNvSpPr/>
          <p:nvPr/>
        </p:nvSpPr>
        <p:spPr>
          <a:xfrm>
            <a:off x="6217920" y="1280160"/>
            <a:ext cx="5212080" cy="512064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4846320" cy="4846320"/>
          </a:xfrm>
          <a:prstGeom prst="rect">
            <a:avLst/>
          </a:prstGeom>
          <a:noFill/>
        </p:spPr>
        <p:txBody>
          <a:bodyPr wrap="square">
            <a:spAutoFit/>
          </a:bodyPr>
          <a:lstStyle/>
          <a:p>
            <a:pPr>
              <a:spcAft>
                <a:spcPts val="400"/>
              </a:spcAft>
              <a:defRPr sz="1500" b="1">
                <a:solidFill>
                  <a:srgbClr val="0EA5E9"/>
                </a:solidFill>
              </a:defRPr>
            </a:pPr>
            <a:r>
              <a:t>2. Cross-Service Unlinkability</a:t>
            </a:r>
          </a:p>
          <a:p>
            <a:pPr>
              <a:spcAft>
                <a:spcPts val="800"/>
              </a:spcAft>
              <a:defRPr sz="1100" b="1">
                <a:solidFill>
                  <a:srgbClr val="64748B"/>
                </a:solidFill>
              </a:defRPr>
            </a:pPr>
            <a:r>
              <a:t>Can someone link my accounts across websites?</a:t>
            </a:r>
          </a:p>
          <a:p>
            <a:pPr>
              <a:defRPr b="1" sz="1100">
                <a:solidFill>
                  <a:srgbClr val="0F172A"/>
                </a:solidFill>
              </a:defRPr>
            </a:pPr>
            <a:r>
              <a:t>• Evaluated with Different Samples:</a:t>
            </a:r>
          </a:p>
          <a:p>
            <a:pPr>
              <a:spcAft>
                <a:spcPts val="400"/>
              </a:spcAft>
              <a:defRPr sz="1000">
                <a:solidFill>
                  <a:srgbClr val="64748B"/>
                </a:solidFill>
              </a:defRPr>
            </a:pPr>
            <a:r>
              <a:t>We tested templates generated under different keys using different biological impressions to ensure real independence.</a:t>
            </a:r>
          </a:p>
          <a:p>
            <a:pPr>
              <a:defRPr b="1" sz="1100">
                <a:solidFill>
                  <a:srgbClr val="0F172A"/>
                </a:solidFill>
              </a:defRPr>
            </a:pPr>
            <a:r>
              <a:t>• ISO/IEC 30136 Unlinkability Metric:</a:t>
            </a:r>
          </a:p>
          <a:p>
            <a:pPr>
              <a:spcAft>
                <a:spcPts val="400"/>
              </a:spcAft>
              <a:defRPr sz="1000">
                <a:solidFill>
                  <a:srgbClr val="64748B"/>
                </a:solidFill>
              </a:defRPr>
            </a:pPr>
            <a:r>
              <a:t>D_sys = 0.0245 (well below the 0.10 benchmark threshold for complete unlinkability).</a:t>
            </a:r>
          </a:p>
          <a:p>
            <a:pPr>
              <a:defRPr b="1" sz="1100">
                <a:solidFill>
                  <a:srgbClr val="0F172A"/>
                </a:solidFill>
              </a:defRPr>
            </a:pPr>
            <a:r>
              <a:t>• Identical Score Overlap:</a:t>
            </a:r>
          </a:p>
          <a:p>
            <a:pPr>
              <a:spcAft>
                <a:spcPts val="400"/>
              </a:spcAft>
              <a:defRPr sz="1000">
                <a:solidFill>
                  <a:srgbClr val="64748B"/>
                </a:solidFill>
              </a:defRPr>
            </a:pPr>
            <a:r>
              <a:t>Mean Hamming distance between same-person templates under different keys is 0.5006, virtually identical to different people (0.4999).</a:t>
            </a:r>
          </a:p>
        </p:txBody>
      </p:sp>
      <p:pic>
        <p:nvPicPr>
          <p:cNvPr id="10" name="Picture 9" descr="cancelable_unlinkability.png"/>
          <p:cNvPicPr>
            <a:picLocks noChangeAspect="1"/>
          </p:cNvPicPr>
          <p:nvPr/>
        </p:nvPicPr>
        <p:blipFill>
          <a:blip r:embed="rId3"/>
          <a:stretch>
            <a:fillRect/>
          </a:stretch>
        </p:blipFill>
        <p:spPr>
          <a:xfrm>
            <a:off x="6400800" y="3931920"/>
            <a:ext cx="475488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ADVERSARIAL ATTACK FINDINGS</a:t>
            </a:r>
          </a:p>
          <a:p>
            <a:pPr>
              <a:defRPr sz="2000" b="1">
                <a:solidFill>
                  <a:srgbClr val="FFFFFF"/>
                </a:solidFill>
              </a:defRPr>
            </a:pPr>
            <a:r>
              <a:t>Security Analysis &amp; Non-Invertibility Boundaries</a:t>
            </a:r>
          </a:p>
        </p:txBody>
      </p:sp>
      <p:sp>
        <p:nvSpPr>
          <p:cNvPr id="5" name="Rounded Rectangle 4"/>
          <p:cNvSpPr/>
          <p:nvPr/>
        </p:nvSpPr>
        <p:spPr>
          <a:xfrm>
            <a:off x="731520" y="1280160"/>
            <a:ext cx="530352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937760" cy="4846320"/>
          </a:xfrm>
          <a:prstGeom prst="rect">
            <a:avLst/>
          </a:prstGeom>
          <a:noFill/>
        </p:spPr>
        <p:txBody>
          <a:bodyPr wrap="square">
            <a:spAutoFit/>
          </a:bodyPr>
          <a:lstStyle/>
          <a:p>
            <a:pPr>
              <a:spcAft>
                <a:spcPts val="800"/>
              </a:spcAft>
              <a:defRPr sz="1500" b="1">
                <a:solidFill>
                  <a:srgbClr val="E11D48"/>
                </a:solidFill>
              </a:defRPr>
            </a:pPr>
            <a:r>
              <a:t>Can an Attacker Invert the Template?</a:t>
            </a:r>
          </a:p>
          <a:p>
            <a:pPr>
              <a:defRPr b="1" sz="1200">
                <a:solidFill>
                  <a:srgbClr val="0F172A"/>
                </a:solidFill>
              </a:defRPr>
            </a:pPr>
            <a:r>
              <a:t>• Case A1: Template Stolen, Key Secret (Safe):</a:t>
            </a:r>
          </a:p>
          <a:p>
            <a:pPr>
              <a:spcAft>
                <a:spcPts val="800"/>
              </a:spcAft>
              <a:defRPr sz="1100">
                <a:solidFill>
                  <a:srgbClr val="64748B"/>
                </a:solidFill>
              </a:defRPr>
            </a:pPr>
            <a:r>
              <a:t>• Effective keyspace &gt;= 2^126 operations.</a:t>
            </a:r>
            <a:br/>
            <a:r>
              <a:t>• Brute-force would require &gt; 10^22 GPU-years.</a:t>
            </a:r>
            <a:br/>
            <a:r>
              <a:t>• Classifier distinguishing User A vs B achieves AUC = 0.4767 (pure random coin flip = 0.5000, 0% leakage).</a:t>
            </a:r>
          </a:p>
          <a:p>
            <a:pPr>
              <a:defRPr b="1" sz="1200">
                <a:solidFill>
                  <a:srgbClr val="E11D48"/>
                </a:solidFill>
              </a:defRPr>
            </a:pPr>
            <a:r>
              <a:t>• Case A2: Template AND Key BOTH Stolen (Vulnerable):</a:t>
            </a:r>
          </a:p>
          <a:p>
            <a:pPr>
              <a:spcAft>
                <a:spcPts val="800"/>
              </a:spcAft>
              <a:defRPr sz="1100">
                <a:solidFill>
                  <a:srgbClr val="64748B"/>
                </a:solidFill>
              </a:defRPr>
            </a:pPr>
            <a:r>
              <a:t>• We trained 4 Machine Learning attack decoders.</a:t>
            </a:r>
            <a:br/>
            <a:r>
              <a:t>• A learned linear Ridge decoder achieves 0.9335 cosine similarity to the victim's true vector!</a:t>
            </a:r>
            <a:br/>
            <a:r>
              <a:t>• Enables 100.0% false match replay against unprotected systems.</a:t>
            </a:r>
          </a:p>
          <a:p>
            <a:pPr>
              <a:defRPr b="1" sz="1200">
                <a:solidFill>
                  <a:srgbClr val="E11D48"/>
                </a:solidFill>
              </a:defRPr>
            </a:pPr>
            <a:r>
              <a:t>• CRITICAL SCIENTIFIC CONCLUSION:</a:t>
            </a:r>
          </a:p>
          <a:p>
            <a:pPr>
              <a:spcAft>
                <a:spcPts val="800"/>
              </a:spcAft>
              <a:defRPr sz="1100">
                <a:solidFill>
                  <a:srgbClr val="0F172A"/>
                </a:solidFill>
              </a:defRPr>
            </a:pPr>
            <a:r>
              <a:t>Random projection binarization is NOT an irreversible one-way cryptographic hash. Security rests strictly on transformation key secrecy! This establishes an honest empirical boundary.</a:t>
            </a:r>
          </a:p>
        </p:txBody>
      </p:sp>
      <p:sp>
        <p:nvSpPr>
          <p:cNvPr id="7" name="Rounded Rectangle 6"/>
          <p:cNvSpPr/>
          <p:nvPr/>
        </p:nvSpPr>
        <p:spPr>
          <a:xfrm>
            <a:off x="6217920" y="1280160"/>
            <a:ext cx="5212080" cy="5120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ivacy_utility_tradeoff.png"/>
          <p:cNvPicPr>
            <a:picLocks noChangeAspect="1"/>
          </p:cNvPicPr>
          <p:nvPr/>
        </p:nvPicPr>
        <p:blipFill>
          <a:blip r:embed="rId2"/>
          <a:stretch>
            <a:fillRect/>
          </a:stretch>
        </p:blipFill>
        <p:spPr>
          <a:xfrm>
            <a:off x="6400800" y="1554480"/>
            <a:ext cx="4846320" cy="1903911"/>
          </a:xfrm>
          <a:prstGeom prst="rect">
            <a:avLst/>
          </a:prstGeom>
        </p:spPr>
      </p:pic>
      <p:sp>
        <p:nvSpPr>
          <p:cNvPr id="9" name="TextBox 8"/>
          <p:cNvSpPr txBox="1"/>
          <p:nvPr/>
        </p:nvSpPr>
        <p:spPr>
          <a:xfrm>
            <a:off x="6400800" y="5486400"/>
            <a:ext cx="4846320" cy="731520"/>
          </a:xfrm>
          <a:prstGeom prst="rect">
            <a:avLst/>
          </a:prstGeom>
          <a:noFill/>
        </p:spPr>
        <p:txBody>
          <a:bodyPr wrap="square">
            <a:spAutoFit/>
          </a:bodyPr>
          <a:lstStyle/>
          <a:p>
            <a:pPr>
              <a:defRPr sz="1000">
                <a:solidFill>
                  <a:srgbClr val="64748B"/>
                </a:solidFill>
              </a:defRPr>
            </a:pPr>
            <a:r>
              <a:t>Figure: The Privacy-Utility Tradeoff. Higher projection dimension m improves accuracy (EER 1.29%), but increases reconstruction cosine (0.9335) if keys leak.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1000" b="1">
                <a:solidFill>
                  <a:srgbClr val="0EA5E9"/>
                </a:solidFill>
              </a:defRPr>
            </a:pPr>
            <a:r>
              <a:t>PRODUCTION ENGINEERING</a:t>
            </a:r>
          </a:p>
          <a:p>
            <a:pPr>
              <a:defRPr sz="2000" b="1">
                <a:solidFill>
                  <a:srgbClr val="FFFFFF"/>
                </a:solidFill>
              </a:defRPr>
            </a:pPr>
            <a:r>
              <a:t>Software Hardening: Defense-in-Depth Implementation</a:t>
            </a:r>
          </a:p>
        </p:txBody>
      </p:sp>
      <p:sp>
        <p:nvSpPr>
          <p:cNvPr id="5" name="Rounded Rectangle 4"/>
          <p:cNvSpPr/>
          <p:nvPr/>
        </p:nvSpPr>
        <p:spPr>
          <a:xfrm>
            <a:off x="731520" y="1280160"/>
            <a:ext cx="3474720" cy="24231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200400" cy="2148840"/>
          </a:xfrm>
          <a:prstGeom prst="rect">
            <a:avLst/>
          </a:prstGeom>
          <a:noFill/>
        </p:spPr>
        <p:txBody>
          <a:bodyPr wrap="square">
            <a:spAutoFit/>
          </a:bodyPr>
          <a:lstStyle/>
          <a:p>
            <a:pPr>
              <a:defRPr sz="1000" b="1">
                <a:solidFill>
                  <a:srgbClr val="2563EB"/>
                </a:solidFill>
              </a:defRPr>
            </a:pPr>
            <a:r>
              <a:t>DATA-AT-REST MINIMIZATION</a:t>
            </a:r>
          </a:p>
          <a:p>
            <a:pPr>
              <a:spcAft>
                <a:spcPts val="600"/>
              </a:spcAft>
              <a:defRPr sz="1300" b="1">
                <a:solidFill>
                  <a:srgbClr val="0F172A"/>
                </a:solidFill>
              </a:defRPr>
            </a:pPr>
            <a:r>
              <a:t>Zero Raw Biometric Storage</a:t>
            </a:r>
          </a:p>
          <a:p>
            <a:pPr>
              <a:defRPr sz="1100">
                <a:solidFill>
                  <a:srgbClr val="64748B"/>
                </a:solidFill>
              </a:defRPr>
            </a:pPr>
            <a:r>
              <a:t>The PostgreSQL schema stores only 64-byte packed binary templates (BYTEA). Images and continuous floating-point embeddings exist in RAM only during inference and are deleted immediately.</a:t>
            </a:r>
          </a:p>
        </p:txBody>
      </p:sp>
      <p:sp>
        <p:nvSpPr>
          <p:cNvPr id="7" name="Rounded Rectangle 6"/>
          <p:cNvSpPr/>
          <p:nvPr/>
        </p:nvSpPr>
        <p:spPr>
          <a:xfrm>
            <a:off x="4389120" y="1280160"/>
            <a:ext cx="3474720" cy="242316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200400" cy="2148840"/>
          </a:xfrm>
          <a:prstGeom prst="rect">
            <a:avLst/>
          </a:prstGeom>
          <a:noFill/>
        </p:spPr>
        <p:txBody>
          <a:bodyPr wrap="square">
            <a:spAutoFit/>
          </a:bodyPr>
          <a:lstStyle/>
          <a:p>
            <a:pPr>
              <a:defRPr sz="1000" b="1">
                <a:solidFill>
                  <a:srgbClr val="0EA5E9"/>
                </a:solidFill>
              </a:defRPr>
            </a:pPr>
            <a:r>
              <a:t>NEUTRALIZING HILL-CLIMBING ATTACKS</a:t>
            </a:r>
          </a:p>
          <a:p>
            <a:pPr>
              <a:spcAft>
                <a:spcPts val="600"/>
              </a:spcAft>
              <a:defRPr sz="1300" b="1">
                <a:solidFill>
                  <a:srgbClr val="0F172A"/>
                </a:solidFill>
              </a:defRPr>
            </a:pPr>
            <a:r>
              <a:t>Score Suppression Defense</a:t>
            </a:r>
          </a:p>
          <a:p>
            <a:pPr>
              <a:defRPr sz="1100">
                <a:solidFill>
                  <a:srgbClr val="64748B"/>
                </a:solidFill>
              </a:defRPr>
            </a:pPr>
            <a:r>
              <a:t>In production mode, the API returns strictly boolean 'MATCH / NO MATCH'. Decimal similarity scores are suppressed, preventing attackers from iteratively crafting synthetic biometrics.</a:t>
            </a:r>
          </a:p>
        </p:txBody>
      </p:sp>
      <p:sp>
        <p:nvSpPr>
          <p:cNvPr id="9" name="Rounded Rectangle 8"/>
          <p:cNvSpPr/>
          <p:nvPr/>
        </p:nvSpPr>
        <p:spPr>
          <a:xfrm>
            <a:off x="8046720" y="1280160"/>
            <a:ext cx="3474720" cy="24231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17320"/>
            <a:ext cx="3200400" cy="2148840"/>
          </a:xfrm>
          <a:prstGeom prst="rect">
            <a:avLst/>
          </a:prstGeom>
          <a:noFill/>
        </p:spPr>
        <p:txBody>
          <a:bodyPr wrap="square">
            <a:spAutoFit/>
          </a:bodyPr>
          <a:lstStyle/>
          <a:p>
            <a:pPr>
              <a:defRPr sz="1000" b="1">
                <a:solidFill>
                  <a:srgbClr val="D97706"/>
                </a:solidFill>
              </a:defRPr>
            </a:pPr>
            <a:r>
              <a:t>THWARTING ONLINE BRUTE-FORCE</a:t>
            </a:r>
          </a:p>
          <a:p>
            <a:pPr>
              <a:spcAft>
                <a:spcPts val="600"/>
              </a:spcAft>
              <a:defRPr sz="1300" b="1">
                <a:solidFill>
                  <a:srgbClr val="0F172A"/>
                </a:solidFill>
              </a:defRPr>
            </a:pPr>
            <a:r>
              <a:t>Escalating Delay Lockout</a:t>
            </a:r>
          </a:p>
          <a:p>
            <a:pPr>
              <a:defRPr sz="1100">
                <a:solidFill>
                  <a:srgbClr val="64748B"/>
                </a:solidFill>
              </a:defRPr>
            </a:pPr>
            <a:r>
              <a:t>The database tracks consecutive failed attempts per IP and username. Delays increase exponentially (2^(fails-3) seconds), shutting down automated probing.</a:t>
            </a:r>
          </a:p>
        </p:txBody>
      </p:sp>
      <p:sp>
        <p:nvSpPr>
          <p:cNvPr id="11" name="Rounded Rectangle 10"/>
          <p:cNvSpPr/>
          <p:nvPr/>
        </p:nvSpPr>
        <p:spPr>
          <a:xfrm>
            <a:off x="731520" y="3886200"/>
            <a:ext cx="3474720" cy="2423160"/>
          </a:xfrm>
          <a:prstGeom prst="roundRect">
            <a:avLst/>
          </a:prstGeom>
          <a:solidFill>
            <a:srgbClr val="FFFFFF"/>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023360"/>
            <a:ext cx="3200400" cy="2148840"/>
          </a:xfrm>
          <a:prstGeom prst="rect">
            <a:avLst/>
          </a:prstGeom>
          <a:noFill/>
        </p:spPr>
        <p:txBody>
          <a:bodyPr wrap="square">
            <a:spAutoFit/>
          </a:bodyPr>
          <a:lstStyle/>
          <a:p>
            <a:pPr>
              <a:defRPr sz="1000" b="1">
                <a:solidFill>
                  <a:srgbClr val="1E293B"/>
                </a:solidFill>
              </a:defRPr>
            </a:pPr>
            <a:r>
              <a:t>CLIENT-SERVER ISOLATION</a:t>
            </a:r>
          </a:p>
          <a:p>
            <a:pPr>
              <a:spcAft>
                <a:spcPts val="600"/>
              </a:spcAft>
              <a:defRPr sz="1300" b="1">
                <a:solidFill>
                  <a:srgbClr val="0F172A"/>
                </a:solidFill>
              </a:defRPr>
            </a:pPr>
            <a:r>
              <a:t>Air-Gapped UI Architecture</a:t>
            </a:r>
          </a:p>
          <a:p>
            <a:pPr>
              <a:defRPr sz="1100">
                <a:solidFill>
                  <a:srgbClr val="64748B"/>
                </a:solidFill>
              </a:defRPr>
            </a:pPr>
            <a:r>
              <a:t>The Streamlit demo interface communicates strictly via HTTP REST API. It never imports PyTorch, feature models, cryptographic master keys, or the C++ chaos engine.</a:t>
            </a:r>
          </a:p>
        </p:txBody>
      </p:sp>
      <p:sp>
        <p:nvSpPr>
          <p:cNvPr id="13" name="Rounded Rectangle 12"/>
          <p:cNvSpPr/>
          <p:nvPr/>
        </p:nvSpPr>
        <p:spPr>
          <a:xfrm>
            <a:off x="4389120" y="3886200"/>
            <a:ext cx="3474720" cy="24231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4023360"/>
            <a:ext cx="3200400" cy="2148840"/>
          </a:xfrm>
          <a:prstGeom prst="rect">
            <a:avLst/>
          </a:prstGeom>
          <a:noFill/>
        </p:spPr>
        <p:txBody>
          <a:bodyPr wrap="square">
            <a:spAutoFit/>
          </a:bodyPr>
          <a:lstStyle/>
          <a:p>
            <a:pPr>
              <a:defRPr sz="1000" b="1">
                <a:solidFill>
                  <a:srgbClr val="10B981"/>
                </a:solidFill>
              </a:defRPr>
            </a:pPr>
            <a:r>
              <a:t>PREVENTING SIDE-CHANNEL LEAKS</a:t>
            </a:r>
          </a:p>
          <a:p>
            <a:pPr>
              <a:spcAft>
                <a:spcPts val="600"/>
              </a:spcAft>
              <a:defRPr sz="1300" b="1">
                <a:solidFill>
                  <a:srgbClr val="0F172A"/>
                </a:solidFill>
              </a:defRPr>
            </a:pPr>
            <a:r>
              <a:t>Timing-Safe Token Comparison</a:t>
            </a:r>
          </a:p>
          <a:p>
            <a:pPr>
              <a:defRPr sz="1100">
                <a:solidFill>
                  <a:srgbClr val="64748B"/>
                </a:solidFill>
              </a:defRPr>
            </a:pPr>
            <a:r>
              <a:t>Bearer token authentication uses hmac.compare_digest() for constant-time validation, preventing byte-by-byte timing attacks during API authorization.</a:t>
            </a:r>
          </a:p>
        </p:txBody>
      </p:sp>
      <p:sp>
        <p:nvSpPr>
          <p:cNvPr id="15" name="Rounded Rectangle 14"/>
          <p:cNvSpPr/>
          <p:nvPr/>
        </p:nvSpPr>
        <p:spPr>
          <a:xfrm>
            <a:off x="8046720" y="3886200"/>
            <a:ext cx="3474720" cy="24231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4023360"/>
            <a:ext cx="3200400" cy="2148840"/>
          </a:xfrm>
          <a:prstGeom prst="rect">
            <a:avLst/>
          </a:prstGeom>
          <a:noFill/>
        </p:spPr>
        <p:txBody>
          <a:bodyPr wrap="square">
            <a:spAutoFit/>
          </a:bodyPr>
          <a:lstStyle/>
          <a:p>
            <a:pPr>
              <a:defRPr sz="1000" b="1">
                <a:solidFill>
                  <a:srgbClr val="0F172A"/>
                </a:solidFill>
              </a:defRPr>
            </a:pPr>
            <a:r>
              <a:t>MSVC AND LINUX GCC IDENTITY</a:t>
            </a:r>
          </a:p>
          <a:p>
            <a:pPr>
              <a:spcAft>
                <a:spcPts val="600"/>
              </a:spcAft>
              <a:defRPr sz="1300" b="1">
                <a:solidFill>
                  <a:srgbClr val="0F172A"/>
                </a:solidFill>
              </a:defRPr>
            </a:pPr>
            <a:r>
              <a:t>Cross-Platform Bit Determinism</a:t>
            </a:r>
          </a:p>
          <a:p>
            <a:pPr>
              <a:defRPr sz="1100">
                <a:solidFill>
                  <a:srgbClr val="64748B"/>
                </a:solidFill>
              </a:defRPr>
            </a:pPr>
            <a:r>
              <a:t>C++17 engine compiled with -ffp-contract=off and Q64 fixed-point math. Known-Answer Tests (KAT) verified bit-exact identical hash outputs across Windows and Linux Docker.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pPr>
              <a:defRPr sz="1200" b="1">
                <a:solidFill>
                  <a:srgbClr val="0EA5E9"/>
                </a:solidFill>
              </a:defRPr>
            </a:pPr>
            <a:r>
              <a:t>PROJECT SUMMARY &amp; KEY TAKEAWAYS</a:t>
            </a:r>
          </a:p>
          <a:p>
            <a:pPr>
              <a:defRPr sz="2800" b="1">
                <a:solidFill>
                  <a:srgbClr val="FFFFFF"/>
                </a:solidFill>
              </a:defRPr>
            </a:pPr>
            <a:r>
              <a:t>ZK-CaMBio Core Conclusions</a:t>
            </a:r>
          </a:p>
        </p:txBody>
      </p:sp>
      <p:sp>
        <p:nvSpPr>
          <p:cNvPr id="4" name="Rounded Rectangle 3"/>
          <p:cNvSpPr/>
          <p:nvPr/>
        </p:nvSpPr>
        <p:spPr>
          <a:xfrm>
            <a:off x="731520" y="1828800"/>
            <a:ext cx="2514600" cy="4389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2240280" cy="4023360"/>
          </a:xfrm>
          <a:prstGeom prst="rect">
            <a:avLst/>
          </a:prstGeom>
          <a:noFill/>
        </p:spPr>
        <p:txBody>
          <a:bodyPr wrap="square">
            <a:spAutoFit/>
          </a:bodyPr>
          <a:lstStyle/>
          <a:p>
            <a:pPr>
              <a:spcAft>
                <a:spcPts val="1200"/>
              </a:spcAft>
              <a:defRPr sz="1500" b="1">
                <a:solidFill>
                  <a:srgbClr val="2563EB"/>
                </a:solidFill>
              </a:defRPr>
            </a:pPr>
            <a:r>
              <a:t>Problem Solved</a:t>
            </a:r>
          </a:p>
          <a:p>
            <a:pPr>
              <a:defRPr sz="1200">
                <a:solidFill>
                  <a:srgbClr val="E2E8F0"/>
                </a:solidFill>
              </a:defRPr>
            </a:pPr>
            <a:r>
              <a:t>Eliminated the biometric permanence dilemma. Leaked biometric templates can now be cancelled, revoked, and reissued instantly without burning the user's biological identity.</a:t>
            </a:r>
          </a:p>
        </p:txBody>
      </p:sp>
      <p:sp>
        <p:nvSpPr>
          <p:cNvPr id="6" name="Rounded Rectangle 5"/>
          <p:cNvSpPr/>
          <p:nvPr/>
        </p:nvSpPr>
        <p:spPr>
          <a:xfrm>
            <a:off x="3474720" y="1828800"/>
            <a:ext cx="251460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2011680"/>
            <a:ext cx="2240280" cy="4023360"/>
          </a:xfrm>
          <a:prstGeom prst="rect">
            <a:avLst/>
          </a:prstGeom>
          <a:noFill/>
        </p:spPr>
        <p:txBody>
          <a:bodyPr wrap="square">
            <a:spAutoFit/>
          </a:bodyPr>
          <a:lstStyle/>
          <a:p>
            <a:pPr>
              <a:spcAft>
                <a:spcPts val="1200"/>
              </a:spcAft>
              <a:defRPr sz="1500" b="1">
                <a:solidFill>
                  <a:srgbClr val="10B981"/>
                </a:solidFill>
              </a:defRPr>
            </a:pPr>
            <a:r>
              <a:t>High Accuracy Retained</a:t>
            </a:r>
          </a:p>
          <a:p>
            <a:pPr>
              <a:defRPr sz="1200">
                <a:solidFill>
                  <a:srgbClr val="E2E8F0"/>
                </a:solidFill>
              </a:defRPr>
            </a:pPr>
            <a:r>
              <a:t>1.29% Equal Error Rate and 98.81% Rank-1 identification accuracy. Paired bootstrap test (p &gt; 0.05) proves zero statistically significant accuracy degradation vs unprotected baseline.</a:t>
            </a:r>
          </a:p>
        </p:txBody>
      </p:sp>
      <p:sp>
        <p:nvSpPr>
          <p:cNvPr id="8" name="Rounded Rectangle 7"/>
          <p:cNvSpPr/>
          <p:nvPr/>
        </p:nvSpPr>
        <p:spPr>
          <a:xfrm>
            <a:off x="6217920" y="1828800"/>
            <a:ext cx="2514600" cy="43891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2011680"/>
            <a:ext cx="2240280" cy="4023360"/>
          </a:xfrm>
          <a:prstGeom prst="rect">
            <a:avLst/>
          </a:prstGeom>
          <a:noFill/>
        </p:spPr>
        <p:txBody>
          <a:bodyPr wrap="square">
            <a:spAutoFit/>
          </a:bodyPr>
          <a:lstStyle/>
          <a:p>
            <a:pPr>
              <a:spcAft>
                <a:spcPts val="1200"/>
              </a:spcAft>
              <a:defRPr sz="1500" b="1">
                <a:solidFill>
                  <a:srgbClr val="0EA5E9"/>
                </a:solidFill>
              </a:defRPr>
            </a:pPr>
            <a:r>
              <a:t>ISO/IEC 30136 Compliance</a:t>
            </a:r>
          </a:p>
          <a:p>
            <a:pPr>
              <a:defRPr sz="1200">
                <a:solidFill>
                  <a:srgbClr val="E2E8F0"/>
                </a:solidFill>
              </a:defRPr>
            </a:pPr>
            <a:r>
              <a:t>100.00% rejection against revoked templates, and near-zero cross-service linkability (D_sys = 0.0245 &lt;&lt; 0.10). Users cannot be tracked across independent databases.</a:t>
            </a:r>
          </a:p>
        </p:txBody>
      </p:sp>
      <p:sp>
        <p:nvSpPr>
          <p:cNvPr id="10" name="Rounded Rectangle 9"/>
          <p:cNvSpPr/>
          <p:nvPr/>
        </p:nvSpPr>
        <p:spPr>
          <a:xfrm>
            <a:off x="8961120" y="1828800"/>
            <a:ext cx="2514600" cy="438912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2011680"/>
            <a:ext cx="2240280" cy="4023360"/>
          </a:xfrm>
          <a:prstGeom prst="rect">
            <a:avLst/>
          </a:prstGeom>
          <a:noFill/>
        </p:spPr>
        <p:txBody>
          <a:bodyPr wrap="square">
            <a:spAutoFit/>
          </a:bodyPr>
          <a:lstStyle/>
          <a:p>
            <a:pPr>
              <a:spcAft>
                <a:spcPts val="1200"/>
              </a:spcAft>
              <a:defRPr sz="1500" b="1">
                <a:solidFill>
                  <a:srgbClr val="D97706"/>
                </a:solidFill>
              </a:defRPr>
            </a:pPr>
            <a:r>
              <a:t>Honest Scientific Boundary</a:t>
            </a:r>
          </a:p>
          <a:p>
            <a:pPr>
              <a:defRPr sz="1200">
                <a:solidFill>
                  <a:srgbClr val="E2E8F0"/>
                </a:solidFill>
              </a:defRPr>
            </a:pPr>
            <a:r>
              <a:t>Empirically demonstrated that random projection security requires key confidentiality (0.9335 cosine under key compromise), reinforced with production defense-in-depth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